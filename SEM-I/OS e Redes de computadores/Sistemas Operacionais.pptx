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3ifzgwkx4gl6/mnt/agents/output/sistemas-operacionais/images/1_Computer_science_background_dark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80000"/>
                </a:srgbClr>
              </a:gs>
              <a:gs pos="100000">
                <a:srgbClr val="1B2A4A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SISTEMAS OPERACIONAIS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048000" y="495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spc="200" kern="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Visão Geral e Evolução dos Principais Sistemas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5715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 Rui C. Ranzani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CONTEÚDO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71755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685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3048000"/>
            <a:ext cx="6413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 Fundamentais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556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Software, Modelo IPO, CPU, Memórias e definição de Sistemas Operacionais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18500" y="1651000"/>
            <a:ext cx="71755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99500" y="19685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699500" y="3048000"/>
            <a:ext cx="6413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Windows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99500" y="3556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Evolução do MS-DOS ao Windows 11: quase 40 anos de história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207000"/>
            <a:ext cx="71755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55245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143000" y="6604000"/>
            <a:ext cx="6413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7112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aberto, Kernel, distribuições e aplicações no mundo real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18500" y="5207000"/>
            <a:ext cx="7175500" cy="317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99500" y="55245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7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8699500" y="6604000"/>
            <a:ext cx="6413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99500" y="7112000"/>
            <a:ext cx="641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História da Apple, evolução do sistema e ecossistema integrado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3ifzgwkx4gl6/mnt/agents/output/sistemas-operacionais/images/3_Circuit_Board_CPU_Motherboard_Techn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000" y="0"/>
            <a:ext cx="9906000" cy="9144000"/>
          </a:xfrm>
          <a:prstGeom prst="rect">
            <a:avLst/>
          </a:prstGeom>
          <a:gradFill rotWithShape="1" flip="none">
            <a:gsLst>
              <a:gs pos="0">
                <a:srgbClr val="1B2A4A"/>
              </a:gs>
              <a:gs pos="40000">
                <a:srgbClr val="1B2A4A">
                  <a:alpha val="80000"/>
                </a:srgbClr>
              </a:gs>
              <a:gs pos="100000">
                <a:srgbClr val="1B2A4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 Fundamentais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 e o Modelo IPO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 e o Modelo IPO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120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9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1816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9500" y="2349500"/>
            <a:ext cx="647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Parte física do computador. Não realiza cálculos sem instrução de software.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— Unidade Central de Processamento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operações lógicas e aritméticas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coordena todos os componentes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Registradores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memória temporária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1587500"/>
            <a:ext cx="7112000" cy="374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99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207500" y="1816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99500" y="2349500"/>
            <a:ext cx="647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Parte lógica que instrui o hardware.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de Sistema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Aumenta eficiência do hardware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Torna computadores simples de usar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de Aplicação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Executa tarefas específicas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461000"/>
            <a:ext cx="14732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9500" y="558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4556" y="166757"/>
                </a:moveTo>
                <a:cubicBezTo>
                  <a:pt x="322332" y="165924"/>
                  <a:pt x="311706" y="175091"/>
                  <a:pt x="310803" y="187385"/>
                </a:cubicBezTo>
                <a:cubicBezTo>
                  <a:pt x="308511" y="220028"/>
                  <a:pt x="294412" y="249476"/>
                  <a:pt x="272742" y="271423"/>
                </a:cubicBezTo>
                <a:lnTo>
                  <a:pt x="250726" y="249337"/>
                </a:lnTo>
                <a:cubicBezTo>
                  <a:pt x="245934" y="244544"/>
                  <a:pt x="238780" y="243155"/>
                  <a:pt x="232529" y="245725"/>
                </a:cubicBezTo>
                <a:cubicBezTo>
                  <a:pt x="226278" y="248295"/>
                  <a:pt x="222250" y="254407"/>
                  <a:pt x="222250" y="261144"/>
                </a:cubicBezTo>
                <a:lnTo>
                  <a:pt x="222250" y="338931"/>
                </a:lnTo>
                <a:cubicBezTo>
                  <a:pt x="222250" y="348169"/>
                  <a:pt x="229681" y="355600"/>
                  <a:pt x="238919" y="355600"/>
                </a:cubicBezTo>
                <a:lnTo>
                  <a:pt x="316706" y="355600"/>
                </a:lnTo>
                <a:cubicBezTo>
                  <a:pt x="323443" y="355600"/>
                  <a:pt x="329555" y="351572"/>
                  <a:pt x="332125" y="345321"/>
                </a:cubicBezTo>
                <a:cubicBezTo>
                  <a:pt x="334695" y="339070"/>
                  <a:pt x="333306" y="331916"/>
                  <a:pt x="328513" y="327124"/>
                </a:cubicBezTo>
                <a:lnTo>
                  <a:pt x="304205" y="302816"/>
                </a:lnTo>
                <a:cubicBezTo>
                  <a:pt x="333167" y="273506"/>
                  <a:pt x="352058" y="234196"/>
                  <a:pt x="355183" y="190440"/>
                </a:cubicBezTo>
                <a:cubicBezTo>
                  <a:pt x="356017" y="178217"/>
                  <a:pt x="346849" y="167590"/>
                  <a:pt x="334556" y="166688"/>
                </a:cubicBezTo>
                <a:close/>
                <a:moveTo>
                  <a:pt x="27087" y="28476"/>
                </a:moveTo>
                <a:lnTo>
                  <a:pt x="51395" y="52784"/>
                </a:lnTo>
                <a:cubicBezTo>
                  <a:pt x="22433" y="82094"/>
                  <a:pt x="3542" y="121404"/>
                  <a:pt x="417" y="165160"/>
                </a:cubicBezTo>
                <a:cubicBezTo>
                  <a:pt x="-417" y="177383"/>
                  <a:pt x="8751" y="188010"/>
                  <a:pt x="21044" y="188913"/>
                </a:cubicBezTo>
                <a:cubicBezTo>
                  <a:pt x="33337" y="189815"/>
                  <a:pt x="43894" y="180578"/>
                  <a:pt x="44797" y="168285"/>
                </a:cubicBezTo>
                <a:cubicBezTo>
                  <a:pt x="47089" y="135642"/>
                  <a:pt x="61188" y="106194"/>
                  <a:pt x="82858" y="84247"/>
                </a:cubicBezTo>
                <a:lnTo>
                  <a:pt x="104874" y="106263"/>
                </a:lnTo>
                <a:cubicBezTo>
                  <a:pt x="109666" y="111056"/>
                  <a:pt x="116820" y="112445"/>
                  <a:pt x="123071" y="109875"/>
                </a:cubicBezTo>
                <a:cubicBezTo>
                  <a:pt x="129322" y="107305"/>
                  <a:pt x="133350" y="101193"/>
                  <a:pt x="133350" y="94456"/>
                </a:cubicBezTo>
                <a:lnTo>
                  <a:pt x="133350" y="16669"/>
                </a:lnTo>
                <a:cubicBezTo>
                  <a:pt x="133350" y="7431"/>
                  <a:pt x="125919" y="0"/>
                  <a:pt x="116681" y="0"/>
                </a:cubicBezTo>
                <a:lnTo>
                  <a:pt x="38894" y="0"/>
                </a:lnTo>
                <a:cubicBezTo>
                  <a:pt x="32157" y="0"/>
                  <a:pt x="26045" y="4028"/>
                  <a:pt x="23475" y="10279"/>
                </a:cubicBezTo>
                <a:cubicBezTo>
                  <a:pt x="20905" y="16530"/>
                  <a:pt x="22364" y="23684"/>
                  <a:pt x="27087" y="28476"/>
                </a:cubicBezTo>
                <a:close/>
                <a:moveTo>
                  <a:pt x="166688" y="21044"/>
                </a:moveTo>
                <a:cubicBezTo>
                  <a:pt x="165854" y="33268"/>
                  <a:pt x="175022" y="43894"/>
                  <a:pt x="187315" y="44797"/>
                </a:cubicBezTo>
                <a:cubicBezTo>
                  <a:pt x="219958" y="47089"/>
                  <a:pt x="249406" y="61188"/>
                  <a:pt x="271353" y="82858"/>
                </a:cubicBezTo>
                <a:lnTo>
                  <a:pt x="249337" y="104874"/>
                </a:lnTo>
                <a:cubicBezTo>
                  <a:pt x="244544" y="109666"/>
                  <a:pt x="243155" y="116820"/>
                  <a:pt x="245725" y="123071"/>
                </a:cubicBezTo>
                <a:cubicBezTo>
                  <a:pt x="248295" y="129322"/>
                  <a:pt x="254407" y="133350"/>
                  <a:pt x="261144" y="133350"/>
                </a:cubicBez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38894"/>
                </a:lnTo>
                <a:cubicBezTo>
                  <a:pt x="355600" y="32157"/>
                  <a:pt x="351572" y="26045"/>
                  <a:pt x="345321" y="23475"/>
                </a:cubicBezTo>
                <a:cubicBezTo>
                  <a:pt x="339070" y="20905"/>
                  <a:pt x="331916" y="22364"/>
                  <a:pt x="327124" y="27087"/>
                </a:cubicBezTo>
                <a:lnTo>
                  <a:pt x="302816" y="51395"/>
                </a:lnTo>
                <a:cubicBezTo>
                  <a:pt x="273506" y="22433"/>
                  <a:pt x="234196" y="3542"/>
                  <a:pt x="190440" y="417"/>
                </a:cubicBezTo>
                <a:cubicBezTo>
                  <a:pt x="178217" y="-417"/>
                  <a:pt x="167590" y="8751"/>
                  <a:pt x="166688" y="21044"/>
                </a:cubicBezTo>
                <a:close/>
                <a:moveTo>
                  <a:pt x="28476" y="328513"/>
                </a:moveTo>
                <a:lnTo>
                  <a:pt x="52784" y="304205"/>
                </a:lnTo>
                <a:cubicBezTo>
                  <a:pt x="82094" y="333167"/>
                  <a:pt x="121404" y="352058"/>
                  <a:pt x="165160" y="355183"/>
                </a:cubicBezTo>
                <a:cubicBezTo>
                  <a:pt x="177383" y="356017"/>
                  <a:pt x="188010" y="346849"/>
                  <a:pt x="188913" y="334556"/>
                </a:cubicBezTo>
                <a:cubicBezTo>
                  <a:pt x="189815" y="322263"/>
                  <a:pt x="180578" y="311706"/>
                  <a:pt x="168285" y="310803"/>
                </a:cubicBezTo>
                <a:cubicBezTo>
                  <a:pt x="135642" y="308511"/>
                  <a:pt x="106194" y="294412"/>
                  <a:pt x="84247" y="272742"/>
                </a:cubicBezTo>
                <a:lnTo>
                  <a:pt x="106263" y="250726"/>
                </a:lnTo>
                <a:cubicBezTo>
                  <a:pt x="111056" y="245934"/>
                  <a:pt x="112445" y="238780"/>
                  <a:pt x="109875" y="232529"/>
                </a:cubicBezTo>
                <a:cubicBezTo>
                  <a:pt x="107305" y="226278"/>
                  <a:pt x="101193" y="222250"/>
                  <a:pt x="94456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16706"/>
                </a:lnTo>
                <a:cubicBezTo>
                  <a:pt x="0" y="323443"/>
                  <a:pt x="4028" y="329555"/>
                  <a:pt x="10279" y="332125"/>
                </a:cubicBezTo>
                <a:cubicBezTo>
                  <a:pt x="16530" y="334695"/>
                  <a:pt x="23684" y="333236"/>
                  <a:pt x="28476" y="3285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5562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IPO — Input → Process → Output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24000" y="6286500"/>
            <a:ext cx="3302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6286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ENTRADA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Periféricos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953000" y="6604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096000" y="6286500"/>
            <a:ext cx="33020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096000" y="6286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PROCESSAMENTO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+ Memória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0" y="6604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668000" y="6286500"/>
            <a:ext cx="3302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0" y="62865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SAÍDA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Periféricos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96000" y="7366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(volátil) | ROM | Disco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Definição e 5 Aspectos dos Sistemas Operacionais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1079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165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7500" y="19685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Operacional é um programa ou conjunto de programas cuja função é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gerenciar os recursos do sistema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fornecendo uma interface entre o computador e o usuário.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304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ASPECTOS FUNDAMENTAIS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619500"/>
            <a:ext cx="4699000" cy="222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6000" y="374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240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com Usuário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6000" y="4191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gráfica (GUI) ou linha de comando (CLI) que permite a interação entre usuário e sistema.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8500" y="3619500"/>
            <a:ext cx="4699000" cy="222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2500" y="374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405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Gerenciamento de Processos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2500" y="4191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Controle de processos e threads, definindo qual programa recebe atenção do processador.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3619500"/>
            <a:ext cx="4699000" cy="222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049000" y="374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557000" y="374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Gerenciamento de Memória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049000" y="4191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Alocação e controle da memória RAM (volátil), essencial para execução dos programas.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76600" y="6159500"/>
            <a:ext cx="4699000" cy="222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30600" y="628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038600" y="628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Sistemas de Arquivos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530600" y="6731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Organização e formatos de armazenamento: FAT, NTFS, ext4, APFS e outros sistemas.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93100" y="6159500"/>
            <a:ext cx="4699000" cy="222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47100" y="628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55100" y="6286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Gerenciamento de E/S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47100" y="6731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Organização de todo o sistema de entrada e saída: periféricos, drivers e dispositivos.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3ifzgwkx4gl6/mnt/agents/output/sistemas-operacionais/images/5_Microsoft_unveils_Windows_11_a_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000" y="0"/>
            <a:ext cx="9906000" cy="9144000"/>
          </a:xfrm>
          <a:prstGeom prst="rect">
            <a:avLst/>
          </a:prstGeom>
          <a:gradFill rotWithShape="1" flip="none">
            <a:gsLst>
              <a:gs pos="0">
                <a:srgbClr val="1B2A4A"/>
              </a:gs>
              <a:gs pos="40000">
                <a:srgbClr val="1B2A4A">
                  <a:alpha val="80000"/>
                </a:srgbClr>
              </a:gs>
              <a:gs pos="100000">
                <a:srgbClr val="1B2A4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Windows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 Interface Gráfica ao Windows 11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Evolução do Windows (1985–2001)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1841500"/>
            <a:ext cx="0" cy="6604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422400" y="19050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60400" y="1879600"/>
            <a:ext cx="69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05000" y="1778000"/>
            <a:ext cx="66040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95500" y="1841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1.0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Interface gráfica sobre MS-DOS. Apps: Paint, Calculadora, Write, Reversi.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22400" y="29210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60400" y="2895600"/>
            <a:ext cx="69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05000" y="2794000"/>
            <a:ext cx="660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2857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2.0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Janelas sobrepostas, "Minimizar" e "Maximizar".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22400" y="37465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60400" y="3721100"/>
            <a:ext cx="69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05000" y="3619500"/>
            <a:ext cx="66040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095500" y="36576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3.0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Sucesso de público, multitarefa, Gerenciador de Programas.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22400" y="45720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60400" y="4546600"/>
            <a:ext cx="69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05000" y="4445000"/>
            <a:ext cx="66040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095500" y="4508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95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"Pronto para a Internet", pilha TCP/IP integrada, início do fim do MS-DOS.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22400" y="54610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60400" y="5435600"/>
            <a:ext cx="69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905000" y="5334000"/>
            <a:ext cx="660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095500" y="5397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98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Foco na Internet, IE integrado, Active Desktop.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22400" y="6223000"/>
            <a:ext cx="203200" cy="203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660400" y="6197600"/>
            <a:ext cx="698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905000" y="6096000"/>
            <a:ext cx="66040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095500" y="6159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ME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Último sobre MS-DOS. Movie Maker, DVD Player, Media Player.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422400" y="7112000"/>
            <a:ext cx="203200" cy="203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98500" y="7086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2001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905000" y="6985000"/>
            <a:ext cx="6604000" cy="825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2095500" y="7048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XP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Primeiro S.O. "de verdade", baseado em Windows NT. Central de Segurança no SP2.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17000" y="1778000"/>
            <a:ext cx="6477000" cy="622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334500" y="2032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MS-DOS — A ORIGEM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334500" y="2476500"/>
            <a:ext cx="508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9334500" y="2667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MS-DOS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(Microsoft Disk Operating System) foi lançado em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1981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foi crucial para a popularização dos computadores pessoais IBM PC.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Baseado no 86-DOS (QDOS) da Seattle Computer Products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Sistema de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linha de comando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Microsoft adquiriu por apenas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mil dólares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334500" y="5461000"/>
            <a:ext cx="5842000" cy="1270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9525000" y="5524500"/>
            <a:ext cx="546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 Curiosidade: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Windows foi criado para facilitar o uso do computador com interface gráfica e mouse, eliminando comandos complexos.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34500" y="6731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Windows 1.0 ao XP: 16 anos de evolução até tornar-se um sistema operacional completo e independente do MS-DOS.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Windows Vista ao Windows 11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755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87500"/>
            <a:ext cx="1270000" cy="381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87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6000" y="2095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Vista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6000" y="25146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"Aero" com transparências. Busca instantânea, reconhecimento de voz, Windows Defender. Desenvolvimento conturbado.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1587500"/>
            <a:ext cx="71755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8500" y="1587500"/>
            <a:ext cx="1270000" cy="381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318500" y="1587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72500" y="2095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72500" y="25146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Melhor suporte a múltiplos núcleos, SSDs e múltiplas GPUs. Estabilidade e desempenho superiores ao Vista.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064000"/>
            <a:ext cx="71755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4064000"/>
            <a:ext cx="12700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06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6000" y="4572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6000" y="49911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Mudança radical: "Tela Iniciar" com blocos coloridos. Inspirado em smartphones e tablets. Desktop tradicional abandonado.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500" y="4064000"/>
            <a:ext cx="71755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318500" y="4064000"/>
            <a:ext cx="1270000" cy="38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318500" y="406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72500" y="4572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10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572500" y="49911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Volta do Menu Iniciar, Cortana, Microsoft Edge, apps universais. Considerado por muitos o melhor Windows da história.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604000"/>
            <a:ext cx="14732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6604000"/>
            <a:ext cx="1270000" cy="381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660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6000" y="711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11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Atual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16000" y="75311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renovado, menu centralizado, suporte a apps Android, Microsoft Teams integrado, gerenciamento de janelas aprimorado. Atualização gratuita do Windows 10. Versão 24H2 (2024) disponível.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3ifzgwkx4gl6/mnt/agents/output/sistemas-operacionais/images/6_Linux_The_Open_Source_Rev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000" y="0"/>
            <a:ext cx="9906000" cy="9144000"/>
          </a:xfrm>
          <a:prstGeom prst="rect">
            <a:avLst/>
          </a:prstGeom>
          <a:gradFill rotWithShape="1" flip="none">
            <a:gsLst>
              <a:gs pos="0">
                <a:srgbClr val="1B2A4A"/>
              </a:gs>
              <a:gs pos="40000">
                <a:srgbClr val="1B2A4A">
                  <a:alpha val="80000"/>
                </a:srgbClr>
              </a:gs>
              <a:gs pos="100000">
                <a:srgbClr val="1B2A4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Aberto e Liberdade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 e Características do Linux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75500" cy="330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9500" y="2133600"/>
            <a:ext cx="6540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Linus Torvalds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iniciou o desenvolvimento do Kernel Linux em 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1991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inspirado no Minix de Tanenbaum.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 1992, mudou a licença para GPL, integrando-se ao projeto GNU.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núcleo do sistema operacional.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318500" y="1587500"/>
            <a:ext cx="7175500" cy="317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778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CARACTERÍSTICAS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36000" y="2222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86267" y="52388"/>
                </a:moveTo>
                <a:cubicBezTo>
                  <a:pt x="186267" y="33124"/>
                  <a:pt x="200188" y="17463"/>
                  <a:pt x="217311" y="17463"/>
                </a:cubicBezTo>
                <a:cubicBezTo>
                  <a:pt x="234434" y="17463"/>
                  <a:pt x="248356" y="33124"/>
                  <a:pt x="248356" y="52388"/>
                </a:cubicBezTo>
                <a:lnTo>
                  <a:pt x="248356" y="69850"/>
                </a:lnTo>
                <a:cubicBezTo>
                  <a:pt x="248356" y="79509"/>
                  <a:pt x="255292" y="87313"/>
                  <a:pt x="263878" y="87313"/>
                </a:cubicBezTo>
                <a:cubicBezTo>
                  <a:pt x="272464" y="87313"/>
                  <a:pt x="279400" y="79509"/>
                  <a:pt x="279400" y="69850"/>
                </a:cubicBezTo>
                <a:lnTo>
                  <a:pt x="279400" y="52388"/>
                </a:lnTo>
                <a:cubicBezTo>
                  <a:pt x="279400" y="13806"/>
                  <a:pt x="251606" y="-17462"/>
                  <a:pt x="217311" y="-17462"/>
                </a:cubicBezTo>
                <a:cubicBezTo>
                  <a:pt x="183017" y="-17462"/>
                  <a:pt x="155222" y="13806"/>
                  <a:pt x="155222" y="52388"/>
                </a:cubicBezTo>
                <a:lnTo>
                  <a:pt x="155222" y="87313"/>
                </a:lnTo>
                <a:lnTo>
                  <a:pt x="77611" y="87313"/>
                </a:lnTo>
                <a:cubicBezTo>
                  <a:pt x="60488" y="87313"/>
                  <a:pt x="46567" y="102974"/>
                  <a:pt x="46567" y="122238"/>
                </a:cubicBezTo>
                <a:lnTo>
                  <a:pt x="46567" y="244475"/>
                </a:lnTo>
                <a:cubicBezTo>
                  <a:pt x="46567" y="263738"/>
                  <a:pt x="60488" y="279400"/>
                  <a:pt x="77611" y="279400"/>
                </a:cubicBezTo>
                <a:lnTo>
                  <a:pt x="201789" y="279400"/>
                </a:lnTo>
                <a:cubicBezTo>
                  <a:pt x="218912" y="279400"/>
                  <a:pt x="232833" y="263738"/>
                  <a:pt x="232833" y="244475"/>
                </a:cubicBezTo>
                <a:lnTo>
                  <a:pt x="232833" y="122238"/>
                </a:lnTo>
                <a:cubicBezTo>
                  <a:pt x="232833" y="102974"/>
                  <a:pt x="218912" y="87313"/>
                  <a:pt x="201789" y="87313"/>
                </a:cubicBezTo>
                <a:lnTo>
                  <a:pt x="186267" y="87313"/>
                </a:lnTo>
                <a:lnTo>
                  <a:pt x="186267" y="5238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042400" y="2184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Código aberto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livre para modificar e distribuir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36000" y="2921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042400" y="28829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Segurança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escolha confiável para profissionais de TI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36000" y="361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34925"/>
                </a:moveTo>
                <a:cubicBezTo>
                  <a:pt x="7804" y="34925"/>
                  <a:pt x="0" y="42729"/>
                  <a:pt x="0" y="52388"/>
                </a:cubicBezTo>
                <a:cubicBezTo>
                  <a:pt x="0" y="62046"/>
                  <a:pt x="7804" y="69850"/>
                  <a:pt x="17463" y="69850"/>
                </a:cubicBezTo>
                <a:lnTo>
                  <a:pt x="64775" y="69850"/>
                </a:lnTo>
                <a:cubicBezTo>
                  <a:pt x="71487" y="85293"/>
                  <a:pt x="86876" y="96044"/>
                  <a:pt x="104775" y="96044"/>
                </a:cubicBezTo>
                <a:cubicBezTo>
                  <a:pt x="122674" y="96044"/>
                  <a:pt x="138063" y="85293"/>
                  <a:pt x="144775" y="69850"/>
                </a:cubicBezTo>
                <a:lnTo>
                  <a:pt x="261938" y="69850"/>
                </a:lnTo>
                <a:cubicBezTo>
                  <a:pt x="271596" y="69850"/>
                  <a:pt x="279400" y="62046"/>
                  <a:pt x="279400" y="52388"/>
                </a:cubicBezTo>
                <a:cubicBezTo>
                  <a:pt x="279400" y="42729"/>
                  <a:pt x="271596" y="34925"/>
                  <a:pt x="261938" y="34925"/>
                </a:cubicBezTo>
                <a:lnTo>
                  <a:pt x="144775" y="34925"/>
                </a:lnTo>
                <a:cubicBezTo>
                  <a:pt x="138063" y="19482"/>
                  <a:pt x="122674" y="8731"/>
                  <a:pt x="104775" y="8731"/>
                </a:cubicBezTo>
                <a:cubicBezTo>
                  <a:pt x="86876" y="8731"/>
                  <a:pt x="71487" y="19482"/>
                  <a:pt x="64775" y="34925"/>
                </a:cubicBezTo>
                <a:lnTo>
                  <a:pt x="17463" y="34925"/>
                </a:lnTo>
                <a:close/>
                <a:moveTo>
                  <a:pt x="17463" y="122238"/>
                </a:moveTo>
                <a:cubicBezTo>
                  <a:pt x="7804" y="122238"/>
                  <a:pt x="0" y="130041"/>
                  <a:pt x="0" y="139700"/>
                </a:cubicBezTo>
                <a:cubicBezTo>
                  <a:pt x="0" y="149359"/>
                  <a:pt x="7804" y="157163"/>
                  <a:pt x="17463" y="157163"/>
                </a:cubicBezTo>
                <a:lnTo>
                  <a:pt x="152087" y="157163"/>
                </a:lnTo>
                <a:cubicBezTo>
                  <a:pt x="158800" y="172606"/>
                  <a:pt x="174188" y="183356"/>
                  <a:pt x="192088" y="183356"/>
                </a:cubicBezTo>
                <a:cubicBezTo>
                  <a:pt x="209987" y="183356"/>
                  <a:pt x="225375" y="172606"/>
                  <a:pt x="232088" y="157163"/>
                </a:cubicBezTo>
                <a:lnTo>
                  <a:pt x="261938" y="157163"/>
                </a:lnTo>
                <a:cubicBezTo>
                  <a:pt x="271596" y="157163"/>
                  <a:pt x="279400" y="149359"/>
                  <a:pt x="279400" y="139700"/>
                </a:cubicBezTo>
                <a:cubicBezTo>
                  <a:pt x="279400" y="130041"/>
                  <a:pt x="271596" y="122238"/>
                  <a:pt x="261938" y="122238"/>
                </a:cubicBezTo>
                <a:lnTo>
                  <a:pt x="232088" y="122238"/>
                </a:lnTo>
                <a:cubicBezTo>
                  <a:pt x="225375" y="106794"/>
                  <a:pt x="209987" y="96044"/>
                  <a:pt x="192088" y="96044"/>
                </a:cubicBezTo>
                <a:cubicBezTo>
                  <a:pt x="174188" y="96044"/>
                  <a:pt x="158800" y="106794"/>
                  <a:pt x="152087" y="122238"/>
                </a:cubicBezTo>
                <a:lnTo>
                  <a:pt x="17463" y="122238"/>
                </a:lnTo>
                <a:close/>
                <a:moveTo>
                  <a:pt x="17463" y="209550"/>
                </a:moveTo>
                <a:cubicBezTo>
                  <a:pt x="7804" y="209550"/>
                  <a:pt x="0" y="217354"/>
                  <a:pt x="0" y="227013"/>
                </a:cubicBezTo>
                <a:cubicBezTo>
                  <a:pt x="0" y="236671"/>
                  <a:pt x="7804" y="244475"/>
                  <a:pt x="17463" y="244475"/>
                </a:cubicBezTo>
                <a:lnTo>
                  <a:pt x="47312" y="244475"/>
                </a:lnTo>
                <a:cubicBezTo>
                  <a:pt x="54025" y="259918"/>
                  <a:pt x="69413" y="270669"/>
                  <a:pt x="87313" y="270669"/>
                </a:cubicBezTo>
                <a:cubicBezTo>
                  <a:pt x="105212" y="270669"/>
                  <a:pt x="120600" y="259918"/>
                  <a:pt x="127313" y="244475"/>
                </a:cubicBezTo>
                <a:lnTo>
                  <a:pt x="261938" y="244475"/>
                </a:lnTo>
                <a:cubicBezTo>
                  <a:pt x="271596" y="244475"/>
                  <a:pt x="279400" y="236671"/>
                  <a:pt x="279400" y="227013"/>
                </a:cubicBezTo>
                <a:cubicBezTo>
                  <a:pt x="279400" y="217354"/>
                  <a:pt x="271596" y="209550"/>
                  <a:pt x="261938" y="209550"/>
                </a:cubicBezTo>
                <a:lnTo>
                  <a:pt x="127313" y="209550"/>
                </a:lnTo>
                <a:cubicBezTo>
                  <a:pt x="120600" y="194107"/>
                  <a:pt x="105212" y="183356"/>
                  <a:pt x="87313" y="183356"/>
                </a:cubicBezTo>
                <a:cubicBezTo>
                  <a:pt x="69413" y="183356"/>
                  <a:pt x="54025" y="194107"/>
                  <a:pt x="47312" y="209550"/>
                </a:cubicBezTo>
                <a:lnTo>
                  <a:pt x="17463" y="2095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042400" y="3581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Flexibilidade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adaptável a qualquer necessidade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36000" y="431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8731"/>
                </a:moveTo>
                <a:cubicBezTo>
                  <a:pt x="164758" y="8731"/>
                  <a:pt x="185103" y="34161"/>
                  <a:pt x="185103" y="65484"/>
                </a:cubicBezTo>
                <a:cubicBezTo>
                  <a:pt x="185103" y="96807"/>
                  <a:pt x="164758" y="122238"/>
                  <a:pt x="139700" y="122238"/>
                </a:cubicBezTo>
                <a:cubicBezTo>
                  <a:pt x="114642" y="122238"/>
                  <a:pt x="94298" y="96807"/>
                  <a:pt x="94298" y="65484"/>
                </a:cubicBezTo>
                <a:cubicBezTo>
                  <a:pt x="94298" y="34161"/>
                  <a:pt x="114642" y="8731"/>
                  <a:pt x="139700" y="8731"/>
                </a:cubicBezTo>
                <a:close/>
                <a:moveTo>
                  <a:pt x="41910" y="48022"/>
                </a:moveTo>
                <a:cubicBezTo>
                  <a:pt x="59258" y="48022"/>
                  <a:pt x="73343" y="65627"/>
                  <a:pt x="73343" y="87313"/>
                </a:cubicBezTo>
                <a:cubicBezTo>
                  <a:pt x="73343" y="108998"/>
                  <a:pt x="59258" y="126603"/>
                  <a:pt x="41910" y="126603"/>
                </a:cubicBezTo>
                <a:cubicBezTo>
                  <a:pt x="24562" y="126603"/>
                  <a:pt x="10478" y="108998"/>
                  <a:pt x="10478" y="87313"/>
                </a:cubicBezTo>
                <a:cubicBezTo>
                  <a:pt x="10478" y="65627"/>
                  <a:pt x="24562" y="48022"/>
                  <a:pt x="41910" y="48022"/>
                </a:cubicBezTo>
                <a:close/>
                <a:moveTo>
                  <a:pt x="0" y="227013"/>
                </a:moveTo>
                <a:cubicBezTo>
                  <a:pt x="0" y="188431"/>
                  <a:pt x="25015" y="157163"/>
                  <a:pt x="55880" y="157163"/>
                </a:cubicBezTo>
                <a:cubicBezTo>
                  <a:pt x="61468" y="157163"/>
                  <a:pt x="66881" y="158199"/>
                  <a:pt x="71989" y="160109"/>
                </a:cubicBezTo>
                <a:cubicBezTo>
                  <a:pt x="57626" y="180191"/>
                  <a:pt x="48895" y="206712"/>
                  <a:pt x="48895" y="235744"/>
                </a:cubicBezTo>
                <a:lnTo>
                  <a:pt x="48895" y="244475"/>
                </a:lnTo>
                <a:cubicBezTo>
                  <a:pt x="48895" y="250696"/>
                  <a:pt x="49943" y="256590"/>
                  <a:pt x="51820" y="261938"/>
                </a:cubicBezTo>
                <a:lnTo>
                  <a:pt x="13970" y="261938"/>
                </a:lnTo>
                <a:cubicBezTo>
                  <a:pt x="6243" y="261938"/>
                  <a:pt x="0" y="254134"/>
                  <a:pt x="0" y="244475"/>
                </a:cubicBezTo>
                <a:lnTo>
                  <a:pt x="0" y="227013"/>
                </a:lnTo>
                <a:close/>
                <a:moveTo>
                  <a:pt x="227580" y="261938"/>
                </a:moveTo>
                <a:cubicBezTo>
                  <a:pt x="229457" y="256590"/>
                  <a:pt x="230505" y="250696"/>
                  <a:pt x="230505" y="244475"/>
                </a:cubicBezTo>
                <a:lnTo>
                  <a:pt x="230505" y="235744"/>
                </a:lnTo>
                <a:cubicBezTo>
                  <a:pt x="230505" y="206712"/>
                  <a:pt x="221774" y="180191"/>
                  <a:pt x="207411" y="160109"/>
                </a:cubicBezTo>
                <a:cubicBezTo>
                  <a:pt x="212519" y="158199"/>
                  <a:pt x="217932" y="157163"/>
                  <a:pt x="223520" y="157163"/>
                </a:cubicBezTo>
                <a:cubicBezTo>
                  <a:pt x="254385" y="157163"/>
                  <a:pt x="279400" y="188431"/>
                  <a:pt x="279400" y="227013"/>
                </a:cubicBezTo>
                <a:lnTo>
                  <a:pt x="279400" y="244475"/>
                </a:lnTo>
                <a:cubicBezTo>
                  <a:pt x="279400" y="254134"/>
                  <a:pt x="273157" y="261938"/>
                  <a:pt x="265430" y="261938"/>
                </a:cubicBezTo>
                <a:lnTo>
                  <a:pt x="227580" y="261938"/>
                </a:lnTo>
                <a:close/>
                <a:moveTo>
                  <a:pt x="206058" y="87313"/>
                </a:moveTo>
                <a:cubicBezTo>
                  <a:pt x="206058" y="65627"/>
                  <a:pt x="220142" y="48022"/>
                  <a:pt x="237490" y="48022"/>
                </a:cubicBezTo>
                <a:cubicBezTo>
                  <a:pt x="254838" y="48022"/>
                  <a:pt x="268923" y="65627"/>
                  <a:pt x="268923" y="87312"/>
                </a:cubicBezTo>
                <a:cubicBezTo>
                  <a:pt x="268923" y="108998"/>
                  <a:pt x="254838" y="126603"/>
                  <a:pt x="237490" y="126603"/>
                </a:cubicBezTo>
                <a:cubicBezTo>
                  <a:pt x="220142" y="126603"/>
                  <a:pt x="206058" y="108998"/>
                  <a:pt x="206058" y="87313"/>
                </a:cubicBezTo>
                <a:close/>
                <a:moveTo>
                  <a:pt x="69850" y="235744"/>
                </a:moveTo>
                <a:cubicBezTo>
                  <a:pt x="69850" y="187504"/>
                  <a:pt x="101108" y="148431"/>
                  <a:pt x="139700" y="148431"/>
                </a:cubicBezTo>
                <a:cubicBezTo>
                  <a:pt x="178292" y="148431"/>
                  <a:pt x="209550" y="187504"/>
                  <a:pt x="209550" y="235744"/>
                </a:cubicBezTo>
                <a:lnTo>
                  <a:pt x="209550" y="244475"/>
                </a:lnTo>
                <a:cubicBezTo>
                  <a:pt x="209550" y="254134"/>
                  <a:pt x="203307" y="261938"/>
                  <a:pt x="195580" y="261938"/>
                </a:cubicBezTo>
                <a:lnTo>
                  <a:pt x="83820" y="261938"/>
                </a:lnTo>
                <a:cubicBezTo>
                  <a:pt x="76093" y="261938"/>
                  <a:pt x="69850" y="254134"/>
                  <a:pt x="69850" y="244475"/>
                </a:cubicBezTo>
                <a:lnTo>
                  <a:pt x="69850" y="23574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9042400" y="4279900"/>
            <a:ext cx="609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Comunidade global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entusiastas e empresas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62000" y="5080000"/>
            <a:ext cx="147320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527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PRINCIPAIS APLICAÇÕES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24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9289" y="200025"/>
                  <a:pt x="65314" y="200025"/>
                </a:cubicBezTo>
                <a:lnTo>
                  <a:pt x="391886" y="200025"/>
                </a:lnTo>
                <a:cubicBezTo>
                  <a:pt x="427911" y="200025"/>
                  <a:pt x="457200" y="174397"/>
                  <a:pt x="457200" y="1428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285750" y="92869"/>
                </a:moveTo>
                <a:cubicBezTo>
                  <a:pt x="299268" y="92869"/>
                  <a:pt x="310243" y="102472"/>
                  <a:pt x="310243" y="114300"/>
                </a:cubicBezTo>
                <a:cubicBezTo>
                  <a:pt x="310243" y="126128"/>
                  <a:pt x="299268" y="135731"/>
                  <a:pt x="285750" y="135731"/>
                </a:cubicBezTo>
                <a:cubicBezTo>
                  <a:pt x="272232" y="135731"/>
                  <a:pt x="261257" y="126128"/>
                  <a:pt x="261257" y="114300"/>
                </a:cubicBezTo>
                <a:cubicBezTo>
                  <a:pt x="261257" y="102472"/>
                  <a:pt x="272232" y="92869"/>
                  <a:pt x="285750" y="92869"/>
                </a:cubicBezTo>
                <a:close/>
                <a:moveTo>
                  <a:pt x="342900" y="114300"/>
                </a:moveTo>
                <a:cubicBezTo>
                  <a:pt x="342900" y="102472"/>
                  <a:pt x="353875" y="92869"/>
                  <a:pt x="367393" y="92869"/>
                </a:cubicBezTo>
                <a:cubicBezTo>
                  <a:pt x="380911" y="92869"/>
                  <a:pt x="391886" y="102472"/>
                  <a:pt x="391886" y="114300"/>
                </a:cubicBezTo>
                <a:cubicBezTo>
                  <a:pt x="391886" y="126128"/>
                  <a:pt x="380911" y="135731"/>
                  <a:pt x="367393" y="135731"/>
                </a:cubicBezTo>
                <a:cubicBezTo>
                  <a:pt x="353875" y="135731"/>
                  <a:pt x="342900" y="126128"/>
                  <a:pt x="342900" y="114300"/>
                </a:cubicBezTo>
                <a:close/>
                <a:moveTo>
                  <a:pt x="65314" y="257175"/>
                </a:moveTo>
                <a:cubicBezTo>
                  <a:pt x="29289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314325"/>
                </a:lnTo>
                <a:cubicBezTo>
                  <a:pt x="457200" y="282803"/>
                  <a:pt x="427911" y="257175"/>
                  <a:pt x="391886" y="257175"/>
                </a:cubicBezTo>
                <a:lnTo>
                  <a:pt x="65314" y="257175"/>
                </a:lnTo>
                <a:close/>
                <a:moveTo>
                  <a:pt x="285750" y="321469"/>
                </a:moveTo>
                <a:cubicBezTo>
                  <a:pt x="299268" y="321469"/>
                  <a:pt x="310243" y="331072"/>
                  <a:pt x="310243" y="342900"/>
                </a:cubicBezTo>
                <a:cubicBezTo>
                  <a:pt x="310243" y="354728"/>
                  <a:pt x="299268" y="364331"/>
                  <a:pt x="285750" y="364331"/>
                </a:cubicBezTo>
                <a:cubicBezTo>
                  <a:pt x="272232" y="364331"/>
                  <a:pt x="261257" y="354728"/>
                  <a:pt x="261257" y="342900"/>
                </a:cubicBezTo>
                <a:cubicBezTo>
                  <a:pt x="261257" y="331072"/>
                  <a:pt x="272232" y="321469"/>
                  <a:pt x="285750" y="321469"/>
                </a:cubicBezTo>
                <a:close/>
                <a:moveTo>
                  <a:pt x="342900" y="342900"/>
                </a:moveTo>
                <a:cubicBezTo>
                  <a:pt x="342900" y="331072"/>
                  <a:pt x="353875" y="321469"/>
                  <a:pt x="367393" y="321469"/>
                </a:cubicBezTo>
                <a:cubicBezTo>
                  <a:pt x="380911" y="321469"/>
                  <a:pt x="391886" y="331072"/>
                  <a:pt x="391886" y="342900"/>
                </a:cubicBezTo>
                <a:cubicBezTo>
                  <a:pt x="391886" y="354728"/>
                  <a:pt x="380911" y="364331"/>
                  <a:pt x="367393" y="364331"/>
                </a:cubicBezTo>
                <a:cubicBezTo>
                  <a:pt x="353875" y="364331"/>
                  <a:pt x="342900" y="354728"/>
                  <a:pt x="342900" y="342900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6413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Servidores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9500" y="679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Estabilidade e segurança para infraestrutura crítica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953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" y="57150"/>
                </a:moveTo>
                <a:cubicBezTo>
                  <a:pt x="19050" y="25628"/>
                  <a:pt x="53221" y="0"/>
                  <a:pt x="95250" y="0"/>
                </a:cubicBezTo>
                <a:lnTo>
                  <a:pt x="361950" y="0"/>
                </a:lnTo>
                <a:cubicBezTo>
                  <a:pt x="403979" y="0"/>
                  <a:pt x="438150" y="25628"/>
                  <a:pt x="438150" y="57150"/>
                </a:cubicBezTo>
                <a:lnTo>
                  <a:pt x="438150" y="400050"/>
                </a:lnTo>
                <a:cubicBezTo>
                  <a:pt x="438150" y="431572"/>
                  <a:pt x="403979" y="457200"/>
                  <a:pt x="361950" y="457200"/>
                </a:cubicBezTo>
                <a:lnTo>
                  <a:pt x="95250" y="457200"/>
                </a:lnTo>
                <a:cubicBezTo>
                  <a:pt x="53221" y="457200"/>
                  <a:pt x="19050" y="431572"/>
                  <a:pt x="19050" y="400050"/>
                </a:cubicBezTo>
                <a:lnTo>
                  <a:pt x="19050" y="57150"/>
                </a:lnTo>
                <a:close/>
                <a:moveTo>
                  <a:pt x="152400" y="392906"/>
                </a:moveTo>
                <a:cubicBezTo>
                  <a:pt x="152400" y="404783"/>
                  <a:pt x="165140" y="414338"/>
                  <a:pt x="180975" y="414338"/>
                </a:cubicBezTo>
                <a:lnTo>
                  <a:pt x="276225" y="414338"/>
                </a:lnTo>
                <a:cubicBezTo>
                  <a:pt x="292060" y="414338"/>
                  <a:pt x="304800" y="404783"/>
                  <a:pt x="304800" y="392906"/>
                </a:cubicBezTo>
                <a:cubicBezTo>
                  <a:pt x="304800" y="381030"/>
                  <a:pt x="292060" y="371475"/>
                  <a:pt x="276225" y="371475"/>
                </a:cubicBezTo>
                <a:lnTo>
                  <a:pt x="180975" y="371475"/>
                </a:lnTo>
                <a:cubicBezTo>
                  <a:pt x="165140" y="371475"/>
                  <a:pt x="152400" y="381030"/>
                  <a:pt x="152400" y="392906"/>
                </a:cubicBezTo>
                <a:close/>
                <a:moveTo>
                  <a:pt x="361950" y="57150"/>
                </a:moveTo>
                <a:lnTo>
                  <a:pt x="95250" y="57150"/>
                </a:lnTo>
                <a:lnTo>
                  <a:pt x="95250" y="328613"/>
                </a:lnTo>
                <a:lnTo>
                  <a:pt x="361950" y="328613"/>
                </a:lnTo>
                <a:lnTo>
                  <a:pt x="361950" y="57150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08500" y="6413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Móveis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08500" y="679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— sistema operacional móvel mais popular do mundo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82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7937500" y="6413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Supercomputadores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937500" y="679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dos 500 maiores supercomputadores usam Linux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811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11366500" y="6413500"/>
            <a:ext cx="292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Dispositivos IoT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366500" y="6794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Carros, equipamentos médicos, Internet das Coisas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Principais Distribuições Linux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distribuição nasce com um propósito específico. A filosofia da comunidade Linux: liberdade para escolher, personalizar e adaptar.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6350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883920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Distribuição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Público-Alvo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Destaque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Ubuntu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Iniciantes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Fácil instalação, interface moderna, tudo funciona "de cara"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Linux Mint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Usuários Windows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Visual familiar: menu iniciar, barra de tarefas, leve e amigável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Debian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Servidores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Super estável, atualizações bem testadas, confiável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Fedora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Desenvolvedores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Tecnologia de ponta, frequentemente entre os primeiros com novas ferramentas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Arch Linux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Avançados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Controle total: monta tudo do zero, altamente personalizável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Manjaro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Intermediários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Arch Linux amigável: instalação simples, sistema pronto para usar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openSUSE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Administração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YaST: ferramenta completa para configurar tudo graficamente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Zorin OS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Ex-usuários Windows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Interface super familiar, transição suave do Windows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Kali Linux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Segurança / Pentest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Ferramentas especializadas para análise de vulnerabilidades e testes de penetração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3ifzgwkx4gl6/mnt/agents/output/sistemas-operacionais/images/4_How_to_use_Dark_Mode_in_macOS_Moja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0"/>
            <a:ext cx="990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000" y="0"/>
            <a:ext cx="9906000" cy="9144000"/>
          </a:xfrm>
          <a:prstGeom prst="rect">
            <a:avLst/>
          </a:prstGeom>
          <a:gradFill rotWithShape="1" flip="none">
            <a:gsLst>
              <a:gs pos="0">
                <a:srgbClr val="1B2A4A"/>
              </a:gs>
              <a:gs pos="40000">
                <a:srgbClr val="1B2A4A">
                  <a:alpha val="80000"/>
                </a:srgbClr>
              </a:gs>
              <a:gs pos="100000">
                <a:srgbClr val="1B2A4A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Design, Ecossistema e Inovação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Evolução do macOS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4699000" cy="3492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6764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ERA CLÁSSICA (1984–2000)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6000" y="2057400"/>
            <a:ext cx="419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1984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System 1.0: GUI com mouse, ícones e pastas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1985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System 2.0: Nova Pasta, Desligar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1991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System 7: reformulação visual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1997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 OS 8: novo painel de controle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1999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 OS 9: AirPort, Sherlock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78500" y="1524000"/>
            <a:ext cx="4699000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16764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 OS X — GRANDES FELINOS (2001–2011)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2500" y="2057400"/>
            <a:ext cx="419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2001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Cheetah 10.0: base UNIX, interface Aqua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2002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Jaguar 10.2: busca no Finder, Agenda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2003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Panther 10.3: Safari como navegador padrão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2005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Tiger 10.4: Spotlight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2007–2011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Leopard, Snow Leopard, Lion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795000" y="1524000"/>
            <a:ext cx="4699000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16764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REGIÕES DA CALIFÓRNIA (2012–2023)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49000" y="2057400"/>
            <a:ext cx="419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2012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Mountain Lion: apps do iOS no Mac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2014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Yosemite: Continuidade e Handoff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2016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Sierra: era "macOS", Siri no desktop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Big Sur: transição Apple Silicon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2021–2023</a:t>
            </a:r>
            <a:pPr algn="l">
              <a:lnSpc>
                <a:spcPct val="155000"/>
              </a:lnSpc>
              <a:spcBef>
                <a:spcPts val="5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Monterey, Ventura, Sonoma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2000" y="5270500"/>
            <a:ext cx="147320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5397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ATUAL — 2024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9500" y="5715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 15 Sequoia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Apple Intelligence (sistema de IA da Apple), widgets na área de trabalho, melhorias de privacidade e otimização para chips Apple Silicon.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6858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História da Apple: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Fundada em 1976 por Steve Jobs, Steve Wozniak e Ronald Wayne na garagem da casa de Jobs, Califórnia. Jobs foi afastado em 1985 e retornou em 1997, liderando o sucesso com iMac, iPod, iPhone e iPad. O nome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vem de </a:t>
            </a:r>
            <a:pPr algn="l">
              <a:lnSpc>
                <a:spcPct val="150000"/>
              </a:lnSpc>
            </a:pPr>
            <a:r>
              <a:rPr lang="en-US" sz="1600" i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Macintosh Operating System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criado por Jef Raskin com contribuições de Bill Atkinson e Andy Hertzfeld.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CONCEITOS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100" kern="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Vantagens, Desvantagens e Curiosidades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755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17526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spc="100" kern="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" y="2222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6152" y="-13395"/>
                </a:moveTo>
                <a:lnTo>
                  <a:pt x="122678" y="4862"/>
                </a:lnTo>
                <a:lnTo>
                  <a:pt x="138906" y="12204"/>
                </a:lnTo>
                <a:cubicBezTo>
                  <a:pt x="140229" y="12799"/>
                  <a:pt x="141111" y="14288"/>
                  <a:pt x="141111" y="15875"/>
                </a:cubicBezTo>
                <a:cubicBezTo>
                  <a:pt x="141111" y="17463"/>
                  <a:pt x="140229" y="18951"/>
                  <a:pt x="138906" y="19546"/>
                </a:cubicBezTo>
                <a:lnTo>
                  <a:pt x="122678" y="26888"/>
                </a:lnTo>
                <a:lnTo>
                  <a:pt x="116152" y="45145"/>
                </a:lnTo>
                <a:cubicBezTo>
                  <a:pt x="115623" y="46633"/>
                  <a:pt x="114300" y="47625"/>
                  <a:pt x="112889" y="47625"/>
                </a:cubicBezTo>
                <a:cubicBezTo>
                  <a:pt x="111478" y="47625"/>
                  <a:pt x="110155" y="46633"/>
                  <a:pt x="109626" y="45145"/>
                </a:cubicBezTo>
                <a:lnTo>
                  <a:pt x="103099" y="26888"/>
                </a:lnTo>
                <a:lnTo>
                  <a:pt x="86872" y="19546"/>
                </a:lnTo>
                <a:cubicBezTo>
                  <a:pt x="85549" y="18951"/>
                  <a:pt x="84667" y="17463"/>
                  <a:pt x="84667" y="15875"/>
                </a:cubicBezTo>
                <a:cubicBezTo>
                  <a:pt x="84667" y="14288"/>
                  <a:pt x="85549" y="12799"/>
                  <a:pt x="86872" y="12204"/>
                </a:cubicBezTo>
                <a:lnTo>
                  <a:pt x="103099" y="4862"/>
                </a:lnTo>
                <a:lnTo>
                  <a:pt x="109626" y="-13395"/>
                </a:lnTo>
                <a:cubicBezTo>
                  <a:pt x="110155" y="-14883"/>
                  <a:pt x="111478" y="-15875"/>
                  <a:pt x="112889" y="-15875"/>
                </a:cubicBezTo>
                <a:cubicBezTo>
                  <a:pt x="114300" y="-15875"/>
                  <a:pt x="115623" y="-14883"/>
                  <a:pt x="116152" y="-13395"/>
                </a:cubicBezTo>
                <a:close/>
                <a:moveTo>
                  <a:pt x="48816" y="20687"/>
                </a:moveTo>
                <a:lnTo>
                  <a:pt x="58297" y="45541"/>
                </a:lnTo>
                <a:lnTo>
                  <a:pt x="80389" y="56207"/>
                </a:lnTo>
                <a:cubicBezTo>
                  <a:pt x="82991" y="57448"/>
                  <a:pt x="84667" y="60325"/>
                  <a:pt x="84667" y="63500"/>
                </a:cubicBezTo>
                <a:cubicBezTo>
                  <a:pt x="84667" y="66675"/>
                  <a:pt x="82991" y="69552"/>
                  <a:pt x="80389" y="70793"/>
                </a:cubicBezTo>
                <a:lnTo>
                  <a:pt x="58297" y="81459"/>
                </a:lnTo>
                <a:lnTo>
                  <a:pt x="48816" y="106313"/>
                </a:lnTo>
                <a:cubicBezTo>
                  <a:pt x="47713" y="109240"/>
                  <a:pt x="45156" y="111125"/>
                  <a:pt x="42333" y="111125"/>
                </a:cubicBezTo>
                <a:cubicBezTo>
                  <a:pt x="39511" y="111125"/>
                  <a:pt x="36953" y="109240"/>
                  <a:pt x="35851" y="106313"/>
                </a:cubicBezTo>
                <a:lnTo>
                  <a:pt x="26370" y="81459"/>
                </a:lnTo>
                <a:lnTo>
                  <a:pt x="4277" y="70793"/>
                </a:lnTo>
                <a:cubicBezTo>
                  <a:pt x="1676" y="69552"/>
                  <a:pt x="0" y="66675"/>
                  <a:pt x="0" y="63500"/>
                </a:cubicBezTo>
                <a:cubicBezTo>
                  <a:pt x="0" y="60325"/>
                  <a:pt x="1676" y="57448"/>
                  <a:pt x="4277" y="56207"/>
                </a:cubicBezTo>
                <a:lnTo>
                  <a:pt x="26370" y="45541"/>
                </a:lnTo>
                <a:lnTo>
                  <a:pt x="35851" y="20687"/>
                </a:lnTo>
                <a:cubicBezTo>
                  <a:pt x="36953" y="17760"/>
                  <a:pt x="39511" y="15875"/>
                  <a:pt x="42333" y="15875"/>
                </a:cubicBezTo>
                <a:cubicBezTo>
                  <a:pt x="45156" y="15875"/>
                  <a:pt x="47713" y="17760"/>
                  <a:pt x="48816" y="20687"/>
                </a:cubicBezTo>
                <a:close/>
                <a:moveTo>
                  <a:pt x="204611" y="150813"/>
                </a:moveTo>
                <a:cubicBezTo>
                  <a:pt x="207433" y="150813"/>
                  <a:pt x="209991" y="152698"/>
                  <a:pt x="211093" y="155625"/>
                </a:cubicBezTo>
                <a:lnTo>
                  <a:pt x="220574" y="180479"/>
                </a:lnTo>
                <a:lnTo>
                  <a:pt x="242667" y="191145"/>
                </a:lnTo>
                <a:cubicBezTo>
                  <a:pt x="245269" y="192385"/>
                  <a:pt x="246944" y="195263"/>
                  <a:pt x="246944" y="198438"/>
                </a:cubicBezTo>
                <a:cubicBezTo>
                  <a:pt x="246944" y="201613"/>
                  <a:pt x="245269" y="204490"/>
                  <a:pt x="242667" y="205730"/>
                </a:cubicBezTo>
                <a:lnTo>
                  <a:pt x="220574" y="216396"/>
                </a:lnTo>
                <a:lnTo>
                  <a:pt x="211093" y="241250"/>
                </a:lnTo>
                <a:cubicBezTo>
                  <a:pt x="209991" y="244177"/>
                  <a:pt x="207433" y="246063"/>
                  <a:pt x="204611" y="246063"/>
                </a:cubicBezTo>
                <a:cubicBezTo>
                  <a:pt x="201789" y="246063"/>
                  <a:pt x="199231" y="244177"/>
                  <a:pt x="198129" y="241250"/>
                </a:cubicBezTo>
                <a:lnTo>
                  <a:pt x="188648" y="216396"/>
                </a:lnTo>
                <a:lnTo>
                  <a:pt x="166555" y="205730"/>
                </a:lnTo>
                <a:cubicBezTo>
                  <a:pt x="163953" y="204490"/>
                  <a:pt x="162278" y="201613"/>
                  <a:pt x="162278" y="198438"/>
                </a:cubicBezTo>
                <a:cubicBezTo>
                  <a:pt x="162278" y="195263"/>
                  <a:pt x="163953" y="192385"/>
                  <a:pt x="166555" y="191145"/>
                </a:cubicBezTo>
                <a:lnTo>
                  <a:pt x="188648" y="180479"/>
                </a:lnTo>
                <a:lnTo>
                  <a:pt x="198129" y="155625"/>
                </a:lnTo>
                <a:cubicBezTo>
                  <a:pt x="199231" y="152698"/>
                  <a:pt x="201789" y="150813"/>
                  <a:pt x="204611" y="150813"/>
                </a:cubicBezTo>
                <a:close/>
                <a:moveTo>
                  <a:pt x="202847" y="0"/>
                </a:moveTo>
                <a:cubicBezTo>
                  <a:pt x="207698" y="0"/>
                  <a:pt x="212372" y="2183"/>
                  <a:pt x="215856" y="6052"/>
                </a:cubicBezTo>
                <a:lnTo>
                  <a:pt x="234509" y="27037"/>
                </a:lnTo>
                <a:cubicBezTo>
                  <a:pt x="237949" y="30956"/>
                  <a:pt x="239889" y="36215"/>
                  <a:pt x="239889" y="41672"/>
                </a:cubicBezTo>
                <a:cubicBezTo>
                  <a:pt x="239889" y="47129"/>
                  <a:pt x="237949" y="52388"/>
                  <a:pt x="234509" y="56307"/>
                </a:cubicBezTo>
                <a:lnTo>
                  <a:pt x="195615" y="100062"/>
                </a:lnTo>
                <a:lnTo>
                  <a:pt x="150945" y="49808"/>
                </a:lnTo>
                <a:lnTo>
                  <a:pt x="189839" y="6052"/>
                </a:lnTo>
                <a:cubicBezTo>
                  <a:pt x="193322" y="2183"/>
                  <a:pt x="197997" y="0"/>
                  <a:pt x="202847" y="0"/>
                </a:cubicBezTo>
                <a:close/>
                <a:moveTo>
                  <a:pt x="19491" y="197693"/>
                </a:moveTo>
                <a:lnTo>
                  <a:pt x="135996" y="66625"/>
                </a:lnTo>
                <a:lnTo>
                  <a:pt x="180666" y="116880"/>
                </a:lnTo>
                <a:lnTo>
                  <a:pt x="64161" y="247948"/>
                </a:lnTo>
                <a:cubicBezTo>
                  <a:pt x="60678" y="251817"/>
                  <a:pt x="56003" y="254000"/>
                  <a:pt x="51153" y="254000"/>
                </a:cubicBezTo>
                <a:cubicBezTo>
                  <a:pt x="46302" y="254000"/>
                  <a:pt x="41628" y="251817"/>
                  <a:pt x="38144" y="247948"/>
                </a:cubicBezTo>
                <a:lnTo>
                  <a:pt x="19491" y="226963"/>
                </a:lnTo>
                <a:cubicBezTo>
                  <a:pt x="16051" y="223044"/>
                  <a:pt x="14111" y="217785"/>
                  <a:pt x="14111" y="212328"/>
                </a:cubicBezTo>
                <a:cubicBezTo>
                  <a:pt x="14111" y="206871"/>
                  <a:pt x="16051" y="201613"/>
                  <a:pt x="19491" y="197693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21844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intuitiva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design consistente e polido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" y="264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4988" y="47625"/>
                </a:moveTo>
                <a:cubicBezTo>
                  <a:pt x="177668" y="47625"/>
                  <a:pt x="170568" y="49857"/>
                  <a:pt x="164350" y="53925"/>
                </a:cubicBezTo>
                <a:cubicBezTo>
                  <a:pt x="157383" y="45988"/>
                  <a:pt x="149269" y="39340"/>
                  <a:pt x="140317" y="34330"/>
                </a:cubicBezTo>
                <a:cubicBezTo>
                  <a:pt x="152753" y="22423"/>
                  <a:pt x="168584" y="15875"/>
                  <a:pt x="184988" y="15875"/>
                </a:cubicBezTo>
                <a:cubicBezTo>
                  <a:pt x="223088" y="15875"/>
                  <a:pt x="254000" y="50602"/>
                  <a:pt x="254000" y="93514"/>
                </a:cubicBezTo>
                <a:cubicBezTo>
                  <a:pt x="254000" y="114102"/>
                  <a:pt x="246724" y="133846"/>
                  <a:pt x="233803" y="148382"/>
                </a:cubicBezTo>
                <a:lnTo>
                  <a:pt x="202450" y="183654"/>
                </a:lnTo>
                <a:cubicBezTo>
                  <a:pt x="189530" y="198189"/>
                  <a:pt x="171979" y="206375"/>
                  <a:pt x="153679" y="206375"/>
                </a:cubicBezTo>
                <a:cubicBezTo>
                  <a:pt x="115579" y="206375"/>
                  <a:pt x="84667" y="171648"/>
                  <a:pt x="84667" y="128736"/>
                </a:cubicBezTo>
                <a:cubicBezTo>
                  <a:pt x="84667" y="127992"/>
                  <a:pt x="84667" y="127248"/>
                  <a:pt x="84711" y="126504"/>
                </a:cubicBezTo>
                <a:cubicBezTo>
                  <a:pt x="84931" y="117723"/>
                  <a:pt x="91414" y="110827"/>
                  <a:pt x="99219" y="111075"/>
                </a:cubicBezTo>
                <a:cubicBezTo>
                  <a:pt x="107024" y="111323"/>
                  <a:pt x="113153" y="118616"/>
                  <a:pt x="112933" y="127397"/>
                </a:cubicBezTo>
                <a:cubicBezTo>
                  <a:pt x="112933" y="127843"/>
                  <a:pt x="112933" y="128290"/>
                  <a:pt x="112933" y="128687"/>
                </a:cubicBezTo>
                <a:cubicBezTo>
                  <a:pt x="112933" y="154037"/>
                  <a:pt x="131189" y="174575"/>
                  <a:pt x="153723" y="174575"/>
                </a:cubicBezTo>
                <a:cubicBezTo>
                  <a:pt x="164527" y="174575"/>
                  <a:pt x="174890" y="169763"/>
                  <a:pt x="182563" y="161131"/>
                </a:cubicBezTo>
                <a:lnTo>
                  <a:pt x="213916" y="125859"/>
                </a:lnTo>
                <a:cubicBezTo>
                  <a:pt x="221544" y="117277"/>
                  <a:pt x="225866" y="105569"/>
                  <a:pt x="225866" y="93414"/>
                </a:cubicBezTo>
                <a:cubicBezTo>
                  <a:pt x="225866" y="68064"/>
                  <a:pt x="207610" y="47526"/>
                  <a:pt x="185076" y="47526"/>
                </a:cubicBezTo>
                <a:close/>
                <a:moveTo>
                  <a:pt x="121356" y="85973"/>
                </a:moveTo>
                <a:cubicBezTo>
                  <a:pt x="120518" y="85576"/>
                  <a:pt x="119680" y="85030"/>
                  <a:pt x="118930" y="84435"/>
                </a:cubicBezTo>
                <a:cubicBezTo>
                  <a:pt x="113374" y="81211"/>
                  <a:pt x="107024" y="79375"/>
                  <a:pt x="100365" y="79375"/>
                </a:cubicBezTo>
                <a:cubicBezTo>
                  <a:pt x="89561" y="79375"/>
                  <a:pt x="79199" y="84187"/>
                  <a:pt x="71526" y="92819"/>
                </a:cubicBezTo>
                <a:lnTo>
                  <a:pt x="40173" y="128091"/>
                </a:lnTo>
                <a:cubicBezTo>
                  <a:pt x="32544" y="136674"/>
                  <a:pt x="28222" y="148382"/>
                  <a:pt x="28222" y="160536"/>
                </a:cubicBezTo>
                <a:cubicBezTo>
                  <a:pt x="28222" y="185886"/>
                  <a:pt x="46478" y="206425"/>
                  <a:pt x="69012" y="206425"/>
                </a:cubicBezTo>
                <a:cubicBezTo>
                  <a:pt x="76288" y="206425"/>
                  <a:pt x="83388" y="204242"/>
                  <a:pt x="89606" y="200174"/>
                </a:cubicBezTo>
                <a:cubicBezTo>
                  <a:pt x="96573" y="208111"/>
                  <a:pt x="104687" y="214759"/>
                  <a:pt x="113683" y="219770"/>
                </a:cubicBezTo>
                <a:cubicBezTo>
                  <a:pt x="101247" y="231626"/>
                  <a:pt x="85460" y="238224"/>
                  <a:pt x="69012" y="238224"/>
                </a:cubicBezTo>
                <a:cubicBezTo>
                  <a:pt x="30912" y="238224"/>
                  <a:pt x="0" y="203498"/>
                  <a:pt x="0" y="160586"/>
                </a:cubicBezTo>
                <a:cubicBezTo>
                  <a:pt x="0" y="139998"/>
                  <a:pt x="7276" y="120253"/>
                  <a:pt x="20197" y="105718"/>
                </a:cubicBezTo>
                <a:lnTo>
                  <a:pt x="51550" y="70445"/>
                </a:lnTo>
                <a:cubicBezTo>
                  <a:pt x="64470" y="55910"/>
                  <a:pt x="82021" y="47724"/>
                  <a:pt x="100321" y="47724"/>
                </a:cubicBezTo>
                <a:cubicBezTo>
                  <a:pt x="138509" y="47724"/>
                  <a:pt x="169333" y="82748"/>
                  <a:pt x="169333" y="125561"/>
                </a:cubicBezTo>
                <a:cubicBezTo>
                  <a:pt x="169333" y="126206"/>
                  <a:pt x="169333" y="126851"/>
                  <a:pt x="169333" y="127496"/>
                </a:cubicBezTo>
                <a:cubicBezTo>
                  <a:pt x="169157" y="136277"/>
                  <a:pt x="162675" y="143173"/>
                  <a:pt x="154869" y="142974"/>
                </a:cubicBezTo>
                <a:cubicBezTo>
                  <a:pt x="147064" y="142776"/>
                  <a:pt x="140935" y="135483"/>
                  <a:pt x="141111" y="126702"/>
                </a:cubicBezTo>
                <a:cubicBezTo>
                  <a:pt x="141111" y="126305"/>
                  <a:pt x="141111" y="125958"/>
                  <a:pt x="141111" y="125561"/>
                </a:cubicBezTo>
                <a:cubicBezTo>
                  <a:pt x="141111" y="108843"/>
                  <a:pt x="133174" y="94159"/>
                  <a:pt x="121356" y="86072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500" y="26035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Ecossistema integrado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Mac, iPhone, iPad sincronizados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" y="3060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30226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Segurança robusta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menos suscetível a vírus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" y="3479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1460500" y="34417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Desempenho otimizado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para hardware Apple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" y="3898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369" y="117673"/>
                </a:moveTo>
                <a:cubicBezTo>
                  <a:pt x="226497" y="123527"/>
                  <a:pt x="233601" y="124817"/>
                  <a:pt x="238958" y="120402"/>
                </a:cubicBezTo>
                <a:cubicBezTo>
                  <a:pt x="244793" y="115540"/>
                  <a:pt x="246380" y="105668"/>
                  <a:pt x="242491" y="98375"/>
                </a:cubicBezTo>
                <a:lnTo>
                  <a:pt x="223441" y="62657"/>
                </a:lnTo>
                <a:cubicBezTo>
                  <a:pt x="222329" y="60573"/>
                  <a:pt x="220821" y="58837"/>
                  <a:pt x="219035" y="57596"/>
                </a:cubicBezTo>
                <a:lnTo>
                  <a:pt x="139462" y="2332"/>
                </a:lnTo>
                <a:cubicBezTo>
                  <a:pt x="131802" y="-2977"/>
                  <a:pt x="122476" y="-2977"/>
                  <a:pt x="114776" y="2332"/>
                </a:cubicBezTo>
                <a:lnTo>
                  <a:pt x="35243" y="57547"/>
                </a:lnTo>
                <a:cubicBezTo>
                  <a:pt x="33099" y="59035"/>
                  <a:pt x="31393" y="61218"/>
                  <a:pt x="30242" y="63897"/>
                </a:cubicBezTo>
                <a:lnTo>
                  <a:pt x="10993" y="108496"/>
                </a:lnTo>
                <a:cubicBezTo>
                  <a:pt x="5993" y="120104"/>
                  <a:pt x="9485" y="134541"/>
                  <a:pt x="18772" y="140791"/>
                </a:cubicBezTo>
                <a:lnTo>
                  <a:pt x="31869" y="149572"/>
                </a:lnTo>
                <a:lnTo>
                  <a:pt x="31869" y="176014"/>
                </a:lnTo>
                <a:cubicBezTo>
                  <a:pt x="31869" y="187424"/>
                  <a:pt x="36790" y="197991"/>
                  <a:pt x="44728" y="203646"/>
                </a:cubicBezTo>
                <a:lnTo>
                  <a:pt x="114578" y="253107"/>
                </a:lnTo>
                <a:cubicBezTo>
                  <a:pt x="122357" y="258614"/>
                  <a:pt x="131842" y="258614"/>
                  <a:pt x="139621" y="253107"/>
                </a:cubicBezTo>
                <a:lnTo>
                  <a:pt x="209471" y="203646"/>
                </a:lnTo>
                <a:cubicBezTo>
                  <a:pt x="217448" y="197991"/>
                  <a:pt x="222329" y="187474"/>
                  <a:pt x="222329" y="176014"/>
                </a:cubicBezTo>
                <a:lnTo>
                  <a:pt x="222329" y="117723"/>
                </a:lnTo>
                <a:close/>
                <a:moveTo>
                  <a:pt x="127119" y="112812"/>
                </a:moveTo>
                <a:lnTo>
                  <a:pt x="67548" y="71438"/>
                </a:lnTo>
                <a:lnTo>
                  <a:pt x="127119" y="30063"/>
                </a:lnTo>
                <a:lnTo>
                  <a:pt x="186690" y="71438"/>
                </a:lnTo>
                <a:lnTo>
                  <a:pt x="127119" y="112812"/>
                </a:lnTo>
                <a:close/>
                <a:moveTo>
                  <a:pt x="110649" y="137716"/>
                </a:moveTo>
                <a:lnTo>
                  <a:pt x="102195" y="160635"/>
                </a:lnTo>
                <a:lnTo>
                  <a:pt x="36393" y="116582"/>
                </a:lnTo>
                <a:lnTo>
                  <a:pt x="46474" y="93166"/>
                </a:lnTo>
                <a:lnTo>
                  <a:pt x="110649" y="137716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1460500" y="38608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Apps nativos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Pages, Numbers, Keynote gratuitos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9500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75" y="95250"/>
                </a:moveTo>
                <a:lnTo>
                  <a:pt x="242094" y="95250"/>
                </a:lnTo>
                <a:cubicBezTo>
                  <a:pt x="248692" y="95250"/>
                  <a:pt x="254000" y="89942"/>
                  <a:pt x="254000" y="83344"/>
                </a:cubicBezTo>
                <a:lnTo>
                  <a:pt x="254000" y="11906"/>
                </a:lnTo>
                <a:cubicBezTo>
                  <a:pt x="254000" y="7094"/>
                  <a:pt x="251123" y="2729"/>
                  <a:pt x="246658" y="893"/>
                </a:cubicBezTo>
                <a:cubicBezTo>
                  <a:pt x="242193" y="-943"/>
                  <a:pt x="237083" y="99"/>
                  <a:pt x="233660" y="3473"/>
                </a:cubicBezTo>
                <a:lnTo>
                  <a:pt x="208012" y="29170"/>
                </a:lnTo>
                <a:cubicBezTo>
                  <a:pt x="186035" y="10964"/>
                  <a:pt x="157758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ubicBezTo>
                  <a:pt x="39291" y="67221"/>
                  <a:pt x="79028" y="31750"/>
                  <a:pt x="127000" y="31750"/>
                </a:cubicBezTo>
                <a:cubicBezTo>
                  <a:pt x="149027" y="31750"/>
                  <a:pt x="169267" y="39191"/>
                  <a:pt x="185390" y="51743"/>
                </a:cubicBezTo>
                <a:lnTo>
                  <a:pt x="162223" y="74910"/>
                </a:lnTo>
                <a:cubicBezTo>
                  <a:pt x="158800" y="78333"/>
                  <a:pt x="157807" y="83443"/>
                  <a:pt x="159643" y="87908"/>
                </a:cubicBezTo>
                <a:cubicBezTo>
                  <a:pt x="161479" y="92373"/>
                  <a:pt x="165844" y="95250"/>
                  <a:pt x="170656" y="95250"/>
                </a:cubicBezTo>
                <a:lnTo>
                  <a:pt x="238175" y="95250"/>
                </a:lnTo>
                <a:close/>
                <a:moveTo>
                  <a:pt x="252760" y="145107"/>
                </a:moveTo>
                <a:cubicBezTo>
                  <a:pt x="254000" y="136426"/>
                  <a:pt x="247948" y="128389"/>
                  <a:pt x="239316" y="127149"/>
                </a:cubicBezTo>
                <a:cubicBezTo>
                  <a:pt x="230684" y="125909"/>
                  <a:pt x="222597" y="131961"/>
                  <a:pt x="221357" y="140593"/>
                </a:cubicBezTo>
                <a:cubicBezTo>
                  <a:pt x="214759" y="186730"/>
                  <a:pt x="175022" y="222200"/>
                  <a:pt x="127050" y="222200"/>
                </a:cubicBezTo>
                <a:cubicBezTo>
                  <a:pt x="105023" y="222200"/>
                  <a:pt x="84782" y="214759"/>
                  <a:pt x="68659" y="202208"/>
                </a:cubicBezTo>
                <a:lnTo>
                  <a:pt x="91777" y="179090"/>
                </a:lnTo>
                <a:cubicBezTo>
                  <a:pt x="95200" y="175667"/>
                  <a:pt x="96193" y="170557"/>
                  <a:pt x="94357" y="166092"/>
                </a:cubicBezTo>
                <a:cubicBezTo>
                  <a:pt x="92521" y="161627"/>
                  <a:pt x="88156" y="158750"/>
                  <a:pt x="83344" y="158750"/>
                </a:cubicBezTo>
                <a:lnTo>
                  <a:pt x="11906" y="158750"/>
                </a:lnTo>
                <a:cubicBezTo>
                  <a:pt x="5308" y="158750"/>
                  <a:pt x="0" y="164058"/>
                  <a:pt x="0" y="170656"/>
                </a:cubicBezTo>
                <a:lnTo>
                  <a:pt x="0" y="242094"/>
                </a:lnTo>
                <a:cubicBezTo>
                  <a:pt x="0" y="246906"/>
                  <a:pt x="2877" y="251271"/>
                  <a:pt x="7342" y="253107"/>
                </a:cubicBezTo>
                <a:cubicBezTo>
                  <a:pt x="11807" y="254943"/>
                  <a:pt x="16917" y="253901"/>
                  <a:pt x="20340" y="250527"/>
                </a:cubicBezTo>
                <a:lnTo>
                  <a:pt x="46037" y="224830"/>
                </a:lnTo>
                <a:cubicBezTo>
                  <a:pt x="67965" y="243036"/>
                  <a:pt x="96242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60500" y="42799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Suporte de longo prazo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atualizações regulares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8500" y="1587500"/>
            <a:ext cx="71755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17526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spc="100" kern="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DESVANTAGENS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2222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07950" y="11906"/>
                </a:moveTo>
                <a:cubicBezTo>
                  <a:pt x="107950" y="5308"/>
                  <a:pt x="116443" y="0"/>
                  <a:pt x="127000" y="0"/>
                </a:cubicBezTo>
                <a:cubicBezTo>
                  <a:pt x="137557" y="0"/>
                  <a:pt x="146050" y="5308"/>
                  <a:pt x="146050" y="11906"/>
                </a:cubicBezTo>
                <a:lnTo>
                  <a:pt x="146050" y="31750"/>
                </a:lnTo>
                <a:lnTo>
                  <a:pt x="190500" y="31750"/>
                </a:lnTo>
                <a:cubicBezTo>
                  <a:pt x="204549" y="31750"/>
                  <a:pt x="215900" y="38844"/>
                  <a:pt x="215900" y="47625"/>
                </a:cubicBezTo>
                <a:cubicBezTo>
                  <a:pt x="215900" y="56406"/>
                  <a:pt x="204549" y="63500"/>
                  <a:pt x="190500" y="63500"/>
                </a:cubicBezTo>
                <a:lnTo>
                  <a:pt x="99298" y="63500"/>
                </a:lnTo>
                <a:cubicBezTo>
                  <a:pt x="79534" y="63500"/>
                  <a:pt x="63500" y="73521"/>
                  <a:pt x="63500" y="85874"/>
                </a:cubicBezTo>
                <a:cubicBezTo>
                  <a:pt x="63500" y="97036"/>
                  <a:pt x="76597" y="106462"/>
                  <a:pt x="94218" y="108049"/>
                </a:cubicBezTo>
                <a:lnTo>
                  <a:pt x="166926" y="114548"/>
                </a:lnTo>
                <a:cubicBezTo>
                  <a:pt x="209629" y="118368"/>
                  <a:pt x="241300" y="141188"/>
                  <a:pt x="241300" y="168126"/>
                </a:cubicBezTo>
                <a:cubicBezTo>
                  <a:pt x="241300" y="198041"/>
                  <a:pt x="202486" y="222250"/>
                  <a:pt x="154702" y="222250"/>
                </a:cubicBezTo>
                <a:lnTo>
                  <a:pt x="146050" y="222250"/>
                </a:lnTo>
                <a:lnTo>
                  <a:pt x="146050" y="242094"/>
                </a:lnTo>
                <a:cubicBezTo>
                  <a:pt x="146050" y="248692"/>
                  <a:pt x="137557" y="254000"/>
                  <a:pt x="127000" y="254000"/>
                </a:cubicBezTo>
                <a:cubicBezTo>
                  <a:pt x="116443" y="254000"/>
                  <a:pt x="107950" y="248692"/>
                  <a:pt x="107950" y="242094"/>
                </a:cubicBezTo>
                <a:lnTo>
                  <a:pt x="107950" y="222250"/>
                </a:lnTo>
                <a:lnTo>
                  <a:pt x="50800" y="222250"/>
                </a:lnTo>
                <a:cubicBezTo>
                  <a:pt x="36751" y="222250"/>
                  <a:pt x="25400" y="215156"/>
                  <a:pt x="25400" y="206375"/>
                </a:cubicBezTo>
                <a:cubicBezTo>
                  <a:pt x="25400" y="197594"/>
                  <a:pt x="36751" y="190500"/>
                  <a:pt x="50800" y="190500"/>
                </a:cubicBezTo>
                <a:lnTo>
                  <a:pt x="154702" y="190500"/>
                </a:lnTo>
                <a:cubicBezTo>
                  <a:pt x="174466" y="190500"/>
                  <a:pt x="190500" y="180479"/>
                  <a:pt x="190500" y="168126"/>
                </a:cubicBezTo>
                <a:cubicBezTo>
                  <a:pt x="190500" y="156964"/>
                  <a:pt x="177403" y="147538"/>
                  <a:pt x="159782" y="145951"/>
                </a:cubicBezTo>
                <a:lnTo>
                  <a:pt x="87074" y="139452"/>
                </a:lnTo>
                <a:cubicBezTo>
                  <a:pt x="44371" y="135682"/>
                  <a:pt x="12700" y="112812"/>
                  <a:pt x="12700" y="85874"/>
                </a:cubicBezTo>
                <a:cubicBezTo>
                  <a:pt x="12700" y="56009"/>
                  <a:pt x="51514" y="31750"/>
                  <a:pt x="99298" y="31750"/>
                </a:cubicBezTo>
                <a:lnTo>
                  <a:pt x="107950" y="31750"/>
                </a:lnTo>
                <a:lnTo>
                  <a:pt x="107950" y="11906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9017000" y="21844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 custo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Macs mais caros que PCs equivalentes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264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125" y="0"/>
                </a:moveTo>
                <a:cubicBezTo>
                  <a:pt x="128637" y="0"/>
                  <a:pt x="142875" y="10666"/>
                  <a:pt x="142875" y="23812"/>
                </a:cubicBezTo>
                <a:cubicBezTo>
                  <a:pt x="142875" y="28972"/>
                  <a:pt x="140692" y="33734"/>
                  <a:pt x="136922" y="37654"/>
                </a:cubicBezTo>
                <a:cubicBezTo>
                  <a:pt x="133648" y="41077"/>
                  <a:pt x="130969" y="45244"/>
                  <a:pt x="130969" y="50006"/>
                </a:cubicBezTo>
                <a:cubicBezTo>
                  <a:pt x="130969" y="57448"/>
                  <a:pt x="137021" y="63500"/>
                  <a:pt x="144463" y="63500"/>
                </a:cubicBezTo>
                <a:lnTo>
                  <a:pt x="166688" y="63500"/>
                </a:lnTo>
                <a:cubicBezTo>
                  <a:pt x="179834" y="63500"/>
                  <a:pt x="190500" y="74166"/>
                  <a:pt x="190500" y="87313"/>
                </a:cubicBezTo>
                <a:lnTo>
                  <a:pt x="190500" y="109538"/>
                </a:lnTo>
                <a:cubicBezTo>
                  <a:pt x="190500" y="116979"/>
                  <a:pt x="196552" y="123031"/>
                  <a:pt x="203994" y="123031"/>
                </a:cubicBezTo>
                <a:cubicBezTo>
                  <a:pt x="208707" y="123031"/>
                  <a:pt x="212923" y="120352"/>
                  <a:pt x="216346" y="117078"/>
                </a:cubicBezTo>
                <a:cubicBezTo>
                  <a:pt x="220266" y="113357"/>
                  <a:pt x="225028" y="111125"/>
                  <a:pt x="230188" y="111125"/>
                </a:cubicBezTo>
                <a:cubicBezTo>
                  <a:pt x="243334" y="111125"/>
                  <a:pt x="254000" y="125363"/>
                  <a:pt x="254000" y="142875"/>
                </a:cubicBezTo>
                <a:cubicBezTo>
                  <a:pt x="254000" y="160387"/>
                  <a:pt x="243334" y="174625"/>
                  <a:pt x="230188" y="174625"/>
                </a:cubicBezTo>
                <a:cubicBezTo>
                  <a:pt x="225028" y="174625"/>
                  <a:pt x="220216" y="172442"/>
                  <a:pt x="216346" y="168672"/>
                </a:cubicBezTo>
                <a:cubicBezTo>
                  <a:pt x="212923" y="165398"/>
                  <a:pt x="208756" y="162719"/>
                  <a:pt x="203994" y="162719"/>
                </a:cubicBezTo>
                <a:cubicBezTo>
                  <a:pt x="196552" y="162719"/>
                  <a:pt x="190500" y="168771"/>
                  <a:pt x="190500" y="176213"/>
                </a:cubicBezTo>
                <a:lnTo>
                  <a:pt x="190500" y="230188"/>
                </a:lnTo>
                <a:cubicBezTo>
                  <a:pt x="190500" y="243334"/>
                  <a:pt x="179834" y="254000"/>
                  <a:pt x="166688" y="254000"/>
                </a:cubicBezTo>
                <a:lnTo>
                  <a:pt x="138509" y="254000"/>
                </a:lnTo>
                <a:cubicBezTo>
                  <a:pt x="132159" y="254000"/>
                  <a:pt x="127000" y="248841"/>
                  <a:pt x="127000" y="242491"/>
                </a:cubicBezTo>
                <a:cubicBezTo>
                  <a:pt x="127000" y="237927"/>
                  <a:pt x="129877" y="233908"/>
                  <a:pt x="133548" y="231180"/>
                </a:cubicBezTo>
                <a:cubicBezTo>
                  <a:pt x="139303" y="226864"/>
                  <a:pt x="142875" y="220911"/>
                  <a:pt x="142875" y="214313"/>
                </a:cubicBezTo>
                <a:cubicBezTo>
                  <a:pt x="142875" y="201166"/>
                  <a:pt x="128637" y="190500"/>
                  <a:pt x="111125" y="190500"/>
                </a:cubicBezTo>
                <a:cubicBezTo>
                  <a:pt x="93613" y="190500"/>
                  <a:pt x="79375" y="201166"/>
                  <a:pt x="79375" y="214313"/>
                </a:cubicBezTo>
                <a:cubicBezTo>
                  <a:pt x="79375" y="220911"/>
                  <a:pt x="82947" y="226864"/>
                  <a:pt x="88702" y="231180"/>
                </a:cubicBezTo>
                <a:cubicBezTo>
                  <a:pt x="92373" y="233908"/>
                  <a:pt x="95250" y="237877"/>
                  <a:pt x="95250" y="242491"/>
                </a:cubicBezTo>
                <a:cubicBezTo>
                  <a:pt x="95250" y="248841"/>
                  <a:pt x="90091" y="254000"/>
                  <a:pt x="83741" y="254000"/>
                </a:cubicBezTo>
                <a:lnTo>
                  <a:pt x="23812" y="254000"/>
                </a:lnTo>
                <a:cubicBezTo>
                  <a:pt x="10666" y="254000"/>
                  <a:pt x="0" y="243334"/>
                  <a:pt x="0" y="230188"/>
                </a:cubicBezTo>
                <a:lnTo>
                  <a:pt x="0" y="170259"/>
                </a:lnTo>
                <a:cubicBezTo>
                  <a:pt x="0" y="163909"/>
                  <a:pt x="5159" y="158750"/>
                  <a:pt x="11509" y="158750"/>
                </a:cubicBezTo>
                <a:cubicBezTo>
                  <a:pt x="16073" y="158750"/>
                  <a:pt x="20092" y="161627"/>
                  <a:pt x="22820" y="165298"/>
                </a:cubicBezTo>
                <a:cubicBezTo>
                  <a:pt x="27136" y="171053"/>
                  <a:pt x="33089" y="174625"/>
                  <a:pt x="39688" y="174625"/>
                </a:cubicBezTo>
                <a:cubicBezTo>
                  <a:pt x="52834" y="174625"/>
                  <a:pt x="63500" y="160387"/>
                  <a:pt x="63500" y="142875"/>
                </a:cubicBezTo>
                <a:cubicBezTo>
                  <a:pt x="63500" y="125363"/>
                  <a:pt x="52834" y="111125"/>
                  <a:pt x="39688" y="111125"/>
                </a:cubicBezTo>
                <a:cubicBezTo>
                  <a:pt x="33089" y="111125"/>
                  <a:pt x="27136" y="114697"/>
                  <a:pt x="22820" y="120452"/>
                </a:cubicBezTo>
                <a:cubicBezTo>
                  <a:pt x="20092" y="124123"/>
                  <a:pt x="16123" y="127000"/>
                  <a:pt x="11509" y="127000"/>
                </a:cubicBezTo>
                <a:cubicBezTo>
                  <a:pt x="5159" y="127000"/>
                  <a:pt x="0" y="121841"/>
                  <a:pt x="0" y="115491"/>
                </a:cubicBezTo>
                <a:lnTo>
                  <a:pt x="0" y="87313"/>
                </a:lnTo>
                <a:cubicBezTo>
                  <a:pt x="0" y="74166"/>
                  <a:pt x="10666" y="63500"/>
                  <a:pt x="23812" y="63500"/>
                </a:cubicBezTo>
                <a:lnTo>
                  <a:pt x="77788" y="63500"/>
                </a:lnTo>
                <a:cubicBezTo>
                  <a:pt x="85229" y="63500"/>
                  <a:pt x="91281" y="57448"/>
                  <a:pt x="91281" y="50006"/>
                </a:cubicBezTo>
                <a:cubicBezTo>
                  <a:pt x="91281" y="45293"/>
                  <a:pt x="88602" y="41077"/>
                  <a:pt x="85328" y="37654"/>
                </a:cubicBezTo>
                <a:cubicBezTo>
                  <a:pt x="81607" y="33734"/>
                  <a:pt x="79375" y="28972"/>
                  <a:pt x="79375" y="23813"/>
                </a:cubicBezTo>
                <a:cubicBezTo>
                  <a:pt x="79375" y="10666"/>
                  <a:pt x="93613" y="0"/>
                  <a:pt x="111125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9017000" y="26035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limitado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menos apps e jogos que Windows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36000" y="3060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27000"/>
                </a:moveTo>
                <a:cubicBezTo>
                  <a:pt x="254000" y="127446"/>
                  <a:pt x="254000" y="127893"/>
                  <a:pt x="254000" y="128339"/>
                </a:cubicBezTo>
                <a:cubicBezTo>
                  <a:pt x="253802" y="146447"/>
                  <a:pt x="237331" y="158750"/>
                  <a:pt x="219224" y="158750"/>
                </a:cubicBezTo>
                <a:lnTo>
                  <a:pt x="170656" y="158750"/>
                </a:lnTo>
                <a:cubicBezTo>
                  <a:pt x="157510" y="158750"/>
                  <a:pt x="146844" y="169416"/>
                  <a:pt x="146844" y="182563"/>
                </a:cubicBezTo>
                <a:cubicBezTo>
                  <a:pt x="146844" y="184249"/>
                  <a:pt x="147042" y="185886"/>
                  <a:pt x="147340" y="187474"/>
                </a:cubicBezTo>
                <a:cubicBezTo>
                  <a:pt x="148382" y="192534"/>
                  <a:pt x="150564" y="197396"/>
                  <a:pt x="152698" y="202307"/>
                </a:cubicBezTo>
                <a:cubicBezTo>
                  <a:pt x="155724" y="209153"/>
                  <a:pt x="158700" y="215950"/>
                  <a:pt x="158700" y="223143"/>
                </a:cubicBezTo>
                <a:cubicBezTo>
                  <a:pt x="158700" y="238919"/>
                  <a:pt x="147985" y="253256"/>
                  <a:pt x="132209" y="253901"/>
                </a:cubicBezTo>
                <a:cubicBezTo>
                  <a:pt x="130473" y="253950"/>
                  <a:pt x="128736" y="254000"/>
                  <a:pt x="126950" y="254000"/>
                </a:cubicBezTo>
                <a:cubicBezTo>
                  <a:pt x="56803" y="254000"/>
                  <a:pt x="-50" y="197148"/>
                  <a:pt x="-50" y="127000"/>
                </a:cubicBezTo>
                <a:cubicBezTo>
                  <a:pt x="-50" y="56852"/>
                  <a:pt x="56852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lose/>
                <a:moveTo>
                  <a:pt x="63500" y="142875"/>
                </a:moveTo>
                <a:cubicBezTo>
                  <a:pt x="63500" y="134113"/>
                  <a:pt x="56387" y="127000"/>
                  <a:pt x="47625" y="127000"/>
                </a:cubicBezTo>
                <a:cubicBezTo>
                  <a:pt x="38863" y="127000"/>
                  <a:pt x="31750" y="134113"/>
                  <a:pt x="31750" y="142875"/>
                </a:cubicBezTo>
                <a:cubicBezTo>
                  <a:pt x="31750" y="151637"/>
                  <a:pt x="38863" y="158750"/>
                  <a:pt x="47625" y="158750"/>
                </a:cubicBezTo>
                <a:cubicBezTo>
                  <a:pt x="56387" y="158750"/>
                  <a:pt x="63500" y="151637"/>
                  <a:pt x="63500" y="142875"/>
                </a:cubicBezTo>
                <a:close/>
                <a:moveTo>
                  <a:pt x="63500" y="95250"/>
                </a:moveTo>
                <a:cubicBezTo>
                  <a:pt x="72262" y="95250"/>
                  <a:pt x="79375" y="88137"/>
                  <a:pt x="79375" y="79375"/>
                </a:cubicBezTo>
                <a:cubicBezTo>
                  <a:pt x="79375" y="70613"/>
                  <a:pt x="72262" y="63500"/>
                  <a:pt x="63500" y="63500"/>
                </a:cubicBezTo>
                <a:cubicBezTo>
                  <a:pt x="54738" y="63500"/>
                  <a:pt x="47625" y="70613"/>
                  <a:pt x="47625" y="79375"/>
                </a:cubicBezTo>
                <a:cubicBezTo>
                  <a:pt x="47625" y="88137"/>
                  <a:pt x="54738" y="95250"/>
                  <a:pt x="63500" y="9525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90500" y="95250"/>
                </a:moveTo>
                <a:cubicBezTo>
                  <a:pt x="199262" y="95250"/>
                  <a:pt x="206375" y="88137"/>
                  <a:pt x="206375" y="79375"/>
                </a:cubicBezTo>
                <a:cubicBezTo>
                  <a:pt x="206375" y="70613"/>
                  <a:pt x="199262" y="63500"/>
                  <a:pt x="190500" y="63500"/>
                </a:cubicBezTo>
                <a:cubicBezTo>
                  <a:pt x="181738" y="63500"/>
                  <a:pt x="174625" y="70613"/>
                  <a:pt x="174625" y="79375"/>
                </a:cubicBezTo>
                <a:cubicBezTo>
                  <a:pt x="174625" y="88137"/>
                  <a:pt x="181738" y="95250"/>
                  <a:pt x="190500" y="9525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9017000" y="30226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Menor personalização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menos opções que Windows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6000" y="3479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3" y="0"/>
                </a:moveTo>
                <a:cubicBezTo>
                  <a:pt x="26767" y="0"/>
                  <a:pt x="14111" y="14238"/>
                  <a:pt x="14111" y="31750"/>
                </a:cubicBezTo>
                <a:lnTo>
                  <a:pt x="14111" y="222250"/>
                </a:lnTo>
                <a:cubicBezTo>
                  <a:pt x="14111" y="239762"/>
                  <a:pt x="26767" y="254000"/>
                  <a:pt x="42333" y="254000"/>
                </a:cubicBezTo>
                <a:lnTo>
                  <a:pt x="121708" y="254000"/>
                </a:lnTo>
                <a:cubicBezTo>
                  <a:pt x="111698" y="238373"/>
                  <a:pt x="105833" y="219174"/>
                  <a:pt x="105833" y="198438"/>
                </a:cubicBezTo>
                <a:cubicBezTo>
                  <a:pt x="105833" y="148530"/>
                  <a:pt x="139965" y="107553"/>
                  <a:pt x="183444" y="103535"/>
                </a:cubicBezTo>
                <a:lnTo>
                  <a:pt x="183444" y="84634"/>
                </a:lnTo>
                <a:cubicBezTo>
                  <a:pt x="183444" y="76200"/>
                  <a:pt x="180490" y="68114"/>
                  <a:pt x="175198" y="62161"/>
                </a:cubicBezTo>
                <a:lnTo>
                  <a:pt x="128191" y="9277"/>
                </a:lnTo>
                <a:cubicBezTo>
                  <a:pt x="122899" y="3324"/>
                  <a:pt x="115755" y="0"/>
                  <a:pt x="108259" y="0"/>
                </a:cubicBezTo>
                <a:lnTo>
                  <a:pt x="42333" y="0"/>
                </a:lnTo>
                <a:close/>
                <a:moveTo>
                  <a:pt x="157648" y="87313"/>
                </a:moveTo>
                <a:lnTo>
                  <a:pt x="116417" y="87313"/>
                </a:lnTo>
                <a:cubicBezTo>
                  <a:pt x="110552" y="87313"/>
                  <a:pt x="105833" y="82004"/>
                  <a:pt x="105833" y="75406"/>
                </a:cubicBezTo>
                <a:lnTo>
                  <a:pt x="105833" y="29021"/>
                </a:lnTo>
                <a:lnTo>
                  <a:pt x="157648" y="87313"/>
                </a:lnTo>
                <a:close/>
                <a:moveTo>
                  <a:pt x="190500" y="269875"/>
                </a:moveTo>
                <a:cubicBezTo>
                  <a:pt x="225547" y="269875"/>
                  <a:pt x="254000" y="237865"/>
                  <a:pt x="254000" y="198438"/>
                </a:cubicBezTo>
                <a:cubicBezTo>
                  <a:pt x="254000" y="159010"/>
                  <a:pt x="225547" y="127000"/>
                  <a:pt x="190500" y="127000"/>
                </a:cubicBezTo>
                <a:cubicBezTo>
                  <a:pt x="155453" y="127000"/>
                  <a:pt x="127000" y="159010"/>
                  <a:pt x="127000" y="198438"/>
                </a:cubicBezTo>
                <a:cubicBezTo>
                  <a:pt x="127000" y="237865"/>
                  <a:pt x="155453" y="269875"/>
                  <a:pt x="190500" y="269875"/>
                </a:cubicBezTo>
                <a:close/>
                <a:moveTo>
                  <a:pt x="216650" y="180231"/>
                </a:moveTo>
                <a:lnTo>
                  <a:pt x="200466" y="198438"/>
                </a:lnTo>
                <a:lnTo>
                  <a:pt x="216650" y="216644"/>
                </a:lnTo>
                <a:cubicBezTo>
                  <a:pt x="219384" y="219720"/>
                  <a:pt x="219384" y="224780"/>
                  <a:pt x="216650" y="227856"/>
                </a:cubicBezTo>
                <a:cubicBezTo>
                  <a:pt x="213916" y="230932"/>
                  <a:pt x="209418" y="230932"/>
                  <a:pt x="206684" y="227856"/>
                </a:cubicBezTo>
                <a:lnTo>
                  <a:pt x="190500" y="209649"/>
                </a:lnTo>
                <a:lnTo>
                  <a:pt x="174316" y="227856"/>
                </a:lnTo>
                <a:cubicBezTo>
                  <a:pt x="171582" y="230932"/>
                  <a:pt x="167084" y="230932"/>
                  <a:pt x="164350" y="227856"/>
                </a:cubicBezTo>
                <a:cubicBezTo>
                  <a:pt x="161616" y="224780"/>
                  <a:pt x="161616" y="219720"/>
                  <a:pt x="164350" y="216644"/>
                </a:cubicBezTo>
                <a:lnTo>
                  <a:pt x="180534" y="198438"/>
                </a:lnTo>
                <a:lnTo>
                  <a:pt x="164350" y="180231"/>
                </a:lnTo>
                <a:cubicBezTo>
                  <a:pt x="161616" y="177155"/>
                  <a:pt x="161616" y="172095"/>
                  <a:pt x="164350" y="169019"/>
                </a:cubicBezTo>
                <a:cubicBezTo>
                  <a:pt x="167084" y="165943"/>
                  <a:pt x="171582" y="165943"/>
                  <a:pt x="174316" y="169019"/>
                </a:cubicBezTo>
                <a:lnTo>
                  <a:pt x="190500" y="187226"/>
                </a:lnTo>
                <a:lnTo>
                  <a:pt x="206684" y="169019"/>
                </a:lnTo>
                <a:cubicBezTo>
                  <a:pt x="209418" y="165943"/>
                  <a:pt x="213916" y="165943"/>
                  <a:pt x="216650" y="169019"/>
                </a:cubicBezTo>
                <a:cubicBezTo>
                  <a:pt x="219384" y="172095"/>
                  <a:pt x="219384" y="177155"/>
                  <a:pt x="216650" y="180231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9017000" y="34417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Incompatibilidade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formatos de arquivo vs. Windows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5270500"/>
            <a:ext cx="14732000" cy="317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1079500" y="54356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CURIOSIDADES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9500" y="5867400"/>
            <a:ext cx="14097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macOS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é baseado em Linux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ambos são da família Unix, mas com kernels distintos. Baseia-se em NeXTSTEP e BSD.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Não é código aberto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embora use componentes open-source. Não pode ser distribuído livremente.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símbolo da maçã mordida: "bite" soa como "byte" — um duplo sentido ligado à computação.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Só pode ser usado em computadores fabricados pela Apple — sistema proprietário e exclusivo.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3ifzgwkx4gl6/mnt/agents/output/sistemas-operacionais/images/10_Abstract_Digital_Technology_Opera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80000"/>
                </a:srgbClr>
              </a:gs>
              <a:gs pos="100000">
                <a:srgbClr val="1B2A4A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75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spc="6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6858000" y="43815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4699000"/>
            <a:ext cx="1143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Windows, Linux e macOS: três abordagens distintas para um mesmo propósito —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conectar pessoas e tecnologia.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953000" y="596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 Rui C. Ranzani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Operacionais</dc:title>
  <dc:subject>Sistemas Operacionais</dc:subject>
  <dc:creator>Kimi</dc:creator>
  <cp:lastModifiedBy>Kimi</cp:lastModifiedBy>
  <cp:revision>1</cp:revision>
  <dcterms:created xsi:type="dcterms:W3CDTF">2026-06-24T16:33:36Z</dcterms:created>
  <dcterms:modified xsi:type="dcterms:W3CDTF">2026-06-24T16:33:36Z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{"Label":"Sistemas Operacionais","ContentProducer":"001191110108MACG2KBH8F10000","ProduceID":"19efa64a-a102-8d6b-8000-00001c9813dd","ReservedCode1":"","ContentPropagator":"001191110108MACG2KBH8F20000","PropagateID":"19efa5d2-2052-882f-8000-09a9bec6b289","ReservedCode2":""}</vt:lpwstr>
  </property>
</Properties>
</file>