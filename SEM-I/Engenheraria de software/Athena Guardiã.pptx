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8229600" cx="14630400"/>
  <p:notesSz cx="8229600" cy="14630400"/>
  <p:embeddedFontLst>
    <p:embeddedFont>
      <p:font typeface="Int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nter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Inter-italic.fntdata"/><Relationship Id="rId6" Type="http://schemas.openxmlformats.org/officeDocument/2006/relationships/slide" Target="slides/slide2.xml"/><Relationship Id="rId18" Type="http://schemas.openxmlformats.org/officeDocument/2006/relationships/font" Target="fonts/Inter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26.png"/><Relationship Id="rId7" Type="http://schemas.openxmlformats.org/officeDocument/2006/relationships/image" Target="../media/image5.png"/><Relationship Id="rId8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793790" y="340887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Athena Guardiã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Segurança para mulheres de forma discreta e inovadora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793790" y="827842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Problema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793790" y="1990249"/>
            <a:ext cx="6407944" cy="2592348"/>
          </a:xfrm>
          <a:prstGeom prst="roundRect">
            <a:avLst>
              <a:gd fmla="val 3675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1028224" y="2224683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7" name="Google Shape;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5390" y="2411730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/>
          <p:nvPr/>
        </p:nvSpPr>
        <p:spPr>
          <a:xfrm>
            <a:off x="1028224" y="313193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Violência frequente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1028224" y="3622358"/>
            <a:ext cx="59390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violência contra mulheres acontece diariamente em todo o mundo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7428548" y="1990249"/>
            <a:ext cx="6408063" cy="2592348"/>
          </a:xfrm>
          <a:prstGeom prst="roundRect">
            <a:avLst>
              <a:gd fmla="val 3675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7662982" y="2224683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2" name="Google Shape;7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0148" y="2411730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/>
          <p:nvPr/>
        </p:nvSpPr>
        <p:spPr>
          <a:xfrm>
            <a:off x="7662982" y="313193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Qualquer lugar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7662982" y="3622358"/>
            <a:ext cx="593919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Pode ocorrer em ambientes urbanos, domésticos ou de trabalho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793790" y="4809411"/>
            <a:ext cx="6407944" cy="2592348"/>
          </a:xfrm>
          <a:prstGeom prst="roundRect">
            <a:avLst>
              <a:gd fmla="val 3675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1028224" y="5043845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7" name="Google Shape;7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5390" y="5230892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/>
          <p:nvPr/>
        </p:nvSpPr>
        <p:spPr>
          <a:xfrm>
            <a:off x="1028224" y="5951101"/>
            <a:ext cx="421231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Impossibilidade de pedir ajuda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1028224" y="6441519"/>
            <a:ext cx="59390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Muitas vítimas não conseguem solicitar socorro sem chamar atenção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7428548" y="4809411"/>
            <a:ext cx="6408063" cy="2592348"/>
          </a:xfrm>
          <a:prstGeom prst="roundRect">
            <a:avLst>
              <a:gd fmla="val 3675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7662982" y="5043845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2" name="Google Shape;8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50148" y="5230892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/>
          <p:nvPr/>
        </p:nvSpPr>
        <p:spPr>
          <a:xfrm>
            <a:off x="7662982" y="5951101"/>
            <a:ext cx="376570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Falta de soluções discretas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7662982" y="6441519"/>
            <a:ext cx="593919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Necessidade urgente de ferramentas rápidas e imperceptíveis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>
            <a:off x="793790" y="195107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Solução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1" name="Google Shape;9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255169"/>
            <a:ext cx="4885015" cy="276808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/>
          <p:nvPr/>
        </p:nvSpPr>
        <p:spPr>
          <a:xfrm>
            <a:off x="6239828" y="3532108"/>
            <a:ext cx="362723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App disfarçado como jogo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6239828" y="4113252"/>
            <a:ext cx="760428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 Athena Guardiã funciona como um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jogo comum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mas esconde funcionalidades de emergência poderosas.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6239828" y="5043130"/>
            <a:ext cx="760428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Permite pedir ajuda sem chamar atenção, enviando alertas rápidos e silenciosos para contatos de confiança.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6" title="WhatsApp Image 2026-04-28 at 20.39.45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793790" y="149221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Nosso Objetivo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7" name="Google Shape;10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654617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/>
          <p:nvPr/>
        </p:nvSpPr>
        <p:spPr>
          <a:xfrm>
            <a:off x="2154674" y="2881432"/>
            <a:ext cx="314503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Aumentar a segurança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2154674" y="3371850"/>
            <a:ext cx="1168193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Oferecer ferramentas concretas para proteção das mulheres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0" name="Google Shape;11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4015502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/>
          <p:nvPr/>
        </p:nvSpPr>
        <p:spPr>
          <a:xfrm>
            <a:off x="2154674" y="4242316"/>
            <a:ext cx="340042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Pedido de ajuda discreto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2154674" y="4732734"/>
            <a:ext cx="1168193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Permitir solicitar socorro sem alertar o agressor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3" name="Google Shape;11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5376386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/>
          <p:nvPr/>
        </p:nvSpPr>
        <p:spPr>
          <a:xfrm>
            <a:off x="2154674" y="560320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Reduzir riscos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2154674" y="6093619"/>
            <a:ext cx="1168193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Minimizar perigos em situações críticas e vulneráveis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/>
          <p:nvPr/>
        </p:nvSpPr>
        <p:spPr>
          <a:xfrm>
            <a:off x="793790" y="1255633"/>
            <a:ext cx="604801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Requisitos Funcionais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2" name="Google Shape;1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418040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/>
          <p:nvPr/>
        </p:nvSpPr>
        <p:spPr>
          <a:xfrm>
            <a:off x="1644253" y="2418040"/>
            <a:ext cx="296644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Alerta de emergência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1644253" y="2908459"/>
            <a:ext cx="552914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Envio instantâneo de sinal de socorro com localização em tempo real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5" name="Google Shape;12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6884" y="2418040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/>
          <p:nvPr/>
        </p:nvSpPr>
        <p:spPr>
          <a:xfrm>
            <a:off x="8307348" y="2418040"/>
            <a:ext cx="293822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Localização contínua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8307348" y="2908459"/>
            <a:ext cx="552926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Compartilhamento de localização atual com contatos pré-selecionados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8" name="Google Shape;12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4087892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8"/>
          <p:cNvSpPr/>
          <p:nvPr/>
        </p:nvSpPr>
        <p:spPr>
          <a:xfrm>
            <a:off x="1644253" y="408789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Botão SOS oculto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1644253" y="4578310"/>
            <a:ext cx="552914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Ativação discreta sem levantar suspeitas ou atrair atenção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1" name="Google Shape;13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56884" y="4087892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/>
          <p:nvPr/>
        </p:nvSpPr>
        <p:spPr>
          <a:xfrm>
            <a:off x="8307348" y="4087892"/>
            <a:ext cx="331267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Reconhecimento de voz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8307348" y="4578310"/>
            <a:ext cx="552926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Palavras-chave ativam automaticamente o sistema de emergência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4" name="Google Shape;13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3790" y="5757743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/>
          <p:nvPr/>
        </p:nvSpPr>
        <p:spPr>
          <a:xfrm>
            <a:off x="1644253" y="57577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Mapa inteligente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1644253" y="6248162"/>
            <a:ext cx="552914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Visualização de áreas perigosas e seguras baseada em dados reais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7" name="Google Shape;13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56884" y="5757743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/>
          <p:nvPr/>
        </p:nvSpPr>
        <p:spPr>
          <a:xfrm>
            <a:off x="8307348" y="5757743"/>
            <a:ext cx="376701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Atendimento especializado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8307348" y="6248162"/>
            <a:ext cx="552926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Chat e ligação direta com equipe de apoio treinada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/>
          <p:nvPr/>
        </p:nvSpPr>
        <p:spPr>
          <a:xfrm>
            <a:off x="719376" y="624007"/>
            <a:ext cx="5138976" cy="642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Inter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Como Funciona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719376" y="1545669"/>
            <a:ext cx="411123" cy="256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719376" y="1872139"/>
            <a:ext cx="7705249" cy="2286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719376" y="2020610"/>
            <a:ext cx="2569488" cy="321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Configuração inicial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719376" y="2453402"/>
            <a:ext cx="7705249" cy="313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Usuária define palavras-chave e contatos de emergência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719376" y="3107174"/>
            <a:ext cx="411123" cy="256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719376" y="3433643"/>
            <a:ext cx="7705249" cy="2286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719376" y="3582114"/>
            <a:ext cx="2569488" cy="321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Ativação em risco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719376" y="4014907"/>
            <a:ext cx="7705249" cy="313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Fala palavra-chave ou toca botão oculto disfarçado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719376" y="4668679"/>
            <a:ext cx="411123" cy="256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719376" y="4995148"/>
            <a:ext cx="7705249" cy="2286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719376" y="5143619"/>
            <a:ext cx="2569488" cy="321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Alerta automático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719376" y="5576411"/>
            <a:ext cx="7705249" cy="313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Envia localização, notifica contatos e ativa suporte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/>
          <p:nvPr/>
        </p:nvSpPr>
        <p:spPr>
          <a:xfrm>
            <a:off x="793790" y="1553647"/>
            <a:ext cx="714125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Diferenciais Competitivos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793790" y="2716054"/>
            <a:ext cx="4196358" cy="2047994"/>
          </a:xfrm>
          <a:prstGeom prst="roundRect">
            <a:avLst>
              <a:gd fmla="val 4652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1028224" y="29504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🎮</a:t>
            </a: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Disfarce de jogo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1028224" y="3440906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Interface que parece um jogo comum, garantindo discrição total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5216962" y="2716054"/>
            <a:ext cx="4196358" cy="2047994"/>
          </a:xfrm>
          <a:prstGeom prst="roundRect">
            <a:avLst>
              <a:gd fmla="val 4652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5451396" y="29504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🎤</a:t>
            </a: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Ativação por voz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5451396" y="3440906"/>
            <a:ext cx="372749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Palavras-chave ativam emergência sem tocar no dispositivo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9640133" y="2716054"/>
            <a:ext cx="4196358" cy="2047994"/>
          </a:xfrm>
          <a:prstGeom prst="roundRect">
            <a:avLst>
              <a:gd fmla="val 4652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9874568" y="29504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🚨</a:t>
            </a: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Alerta silencioso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9874568" y="3440906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Envio discreto de alerta sem sons ou notificações evidentes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793790" y="4990862"/>
            <a:ext cx="6407944" cy="1685092"/>
          </a:xfrm>
          <a:prstGeom prst="roundRect">
            <a:avLst>
              <a:gd fmla="val 5654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1028224" y="522529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📍</a:t>
            </a: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Mapa inteligente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1028224" y="5715714"/>
            <a:ext cx="59390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Identificação automática de áreas de risco e segurança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2" name="Google Shape;1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/>
          <p:nvPr/>
        </p:nvSpPr>
        <p:spPr>
          <a:xfrm>
            <a:off x="6280190" y="157614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Requisitos Técnicos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6280190" y="285190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Funcionais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6280190" y="3433048"/>
            <a:ext cx="3501509" cy="3141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Resposta rápida (até 2 segundos)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Criptografia de ponta a ponta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Funciona offline e com internet limitada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Compatível com Android e iOS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10342721" y="285190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Interface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10342721" y="3433048"/>
            <a:ext cx="3501509" cy="1689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Design intuitivo e amigável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Visual de jogo imperceptível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Alta acessibilidade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Localização em português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3" name="Google Shape;19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/>
          <p:nvPr/>
        </p:nvSpPr>
        <p:spPr>
          <a:xfrm>
            <a:off x="793790" y="64781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Impacto Social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793790" y="1810107"/>
            <a:ext cx="3636407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5850"/>
              <a:buFont typeface="Inter"/>
              <a:buNone/>
            </a:pPr>
            <a:r>
              <a:rPr b="1" i="0" lang="en-US" sz="5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100%</a:t>
            </a:r>
            <a:endParaRPr b="0" i="0" sz="5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793790" y="2841903"/>
            <a:ext cx="3636407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Vidas potencialmente salvas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793790" y="3686651"/>
            <a:ext cx="363640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Tecnologia que pode fazer a diferença em momentos críticos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4713684" y="1810107"/>
            <a:ext cx="3636526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5850"/>
              <a:buFont typeface="Inter"/>
              <a:buNone/>
            </a:pPr>
            <a:r>
              <a:rPr b="1" i="0" lang="en-US" sz="5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80%</a:t>
            </a:r>
            <a:endParaRPr b="0" i="0" sz="5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5114330" y="284190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Redução de tempo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4713684" y="3332321"/>
            <a:ext cx="363652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Diminuição significativa no tempo de resposta de emergência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2753678" y="4979432"/>
            <a:ext cx="3636526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5850"/>
              <a:buFont typeface="Inter"/>
              <a:buNone/>
            </a:pPr>
            <a:r>
              <a:rPr b="1" i="0" lang="en-US" sz="5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3x</a:t>
            </a:r>
            <a:endParaRPr b="0" i="0" sz="5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2753678" y="6011228"/>
            <a:ext cx="3636526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Maior sensação de segurança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2753678" y="6855976"/>
            <a:ext cx="363652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Usuárias relatam maior confiança e segurança pessoal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9" name="Google Shape;20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/>
          <p:nvPr/>
        </p:nvSpPr>
        <p:spPr>
          <a:xfrm>
            <a:off x="6044565" y="447913"/>
            <a:ext cx="8027670" cy="996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Inter"/>
              <a:buNone/>
            </a:pPr>
            <a:r>
              <a:rPr b="1" i="0" lang="en-US" sz="3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Segurança de verdade, com aparência de um jogo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6044565" y="1612821"/>
            <a:ext cx="8027670" cy="1458158"/>
          </a:xfrm>
          <a:prstGeom prst="roundRect">
            <a:avLst>
              <a:gd fmla="val 4594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6211610" y="1779865"/>
            <a:ext cx="478393" cy="478393"/>
          </a:xfrm>
          <a:prstGeom prst="roundRect">
            <a:avLst>
              <a:gd fmla="val 19112081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3" name="Google Shape;21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174" y="1911429"/>
            <a:ext cx="215265" cy="21526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3"/>
          <p:cNvSpPr/>
          <p:nvPr/>
        </p:nvSpPr>
        <p:spPr>
          <a:xfrm>
            <a:off x="6211610" y="2370296"/>
            <a:ext cx="1993583" cy="249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Inovador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6211610" y="2686645"/>
            <a:ext cx="7693581" cy="217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Conceito único no mercado brasileiro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6044565" y="3183017"/>
            <a:ext cx="8027670" cy="1458158"/>
          </a:xfrm>
          <a:prstGeom prst="roundRect">
            <a:avLst>
              <a:gd fmla="val 4594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6211610" y="3350062"/>
            <a:ext cx="478393" cy="478393"/>
          </a:xfrm>
          <a:prstGeom prst="roundRect">
            <a:avLst>
              <a:gd fmla="val 19112081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8" name="Google Shape;21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174" y="3481626"/>
            <a:ext cx="215265" cy="21526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/>
          <p:nvPr/>
        </p:nvSpPr>
        <p:spPr>
          <a:xfrm>
            <a:off x="6211610" y="3940492"/>
            <a:ext cx="1993583" cy="249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Discreto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6211610" y="4256842"/>
            <a:ext cx="7693581" cy="217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Proteção invisível e eficaz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6044565" y="4753213"/>
            <a:ext cx="8027670" cy="1458158"/>
          </a:xfrm>
          <a:prstGeom prst="roundRect">
            <a:avLst>
              <a:gd fmla="val 4594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6211610" y="4920258"/>
            <a:ext cx="478393" cy="478393"/>
          </a:xfrm>
          <a:prstGeom prst="roundRect">
            <a:avLst>
              <a:gd fmla="val 19112081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3" name="Google Shape;22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174" y="5051822"/>
            <a:ext cx="215265" cy="21526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/>
          <p:nvPr/>
        </p:nvSpPr>
        <p:spPr>
          <a:xfrm>
            <a:off x="6211610" y="5510689"/>
            <a:ext cx="1993583" cy="249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Eficiente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6211610" y="5827038"/>
            <a:ext cx="7693581" cy="217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Resposta rápida e confiável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6044565" y="6323409"/>
            <a:ext cx="8027670" cy="1458158"/>
          </a:xfrm>
          <a:prstGeom prst="roundRect">
            <a:avLst>
              <a:gd fmla="val 4594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6211610" y="6490454"/>
            <a:ext cx="478393" cy="478393"/>
          </a:xfrm>
          <a:prstGeom prst="roundRect">
            <a:avLst>
              <a:gd fmla="val 19112081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8" name="Google Shape;22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3174" y="6622018"/>
            <a:ext cx="215265" cy="21526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/>
          <p:nvPr/>
        </p:nvSpPr>
        <p:spPr>
          <a:xfrm>
            <a:off x="6211610" y="7080885"/>
            <a:ext cx="1993583" cy="249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Necessário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6211610" y="7397234"/>
            <a:ext cx="7693581" cy="217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Urgência social reconhecida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4" title="ChatGPT Image 28 de abr. de 2026, 20_39_5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113900" y="-74150"/>
            <a:ext cx="17744301" cy="8151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