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-274320"/>
            <a:ext cx="4572000" cy="7406640"/>
          </a:xfrm>
          <a:prstGeom prst="rect">
            <a:avLst/>
          </a:prstGeom>
          <a:solidFill>
            <a:srgbClr val="0E1D30"/>
          </a:solidFill>
          <a:ln>
            <a:solidFill>
              <a:srgbClr val="0E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594360"/>
            <a:ext cx="3749039" cy="27432"/>
          </a:xfrm>
          <a:prstGeom prst="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59" y="1325880"/>
            <a:ext cx="3749039" cy="27432"/>
          </a:xfrm>
          <a:prstGeom prst="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0" y="2057400"/>
            <a:ext cx="3749039" cy="27432"/>
          </a:xfrm>
          <a:prstGeom prst="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9" y="2788920"/>
            <a:ext cx="3749039" cy="27432"/>
          </a:xfrm>
          <a:prstGeom prst="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0" y="3520440"/>
            <a:ext cx="3749039" cy="27432"/>
          </a:xfrm>
          <a:prstGeom prst="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58200" y="1143000"/>
            <a:ext cx="502920" cy="502920"/>
          </a:xfrm>
          <a:prstGeom prst="ellipse">
            <a:avLst/>
          </a:prstGeom>
          <a:solidFill>
            <a:srgbClr val="32C4DC"/>
          </a:solidFill>
          <a:ln>
            <a:solidFill>
              <a:srgbClr val="32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15214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149840" y="2880360"/>
            <a:ext cx="502920" cy="502920"/>
          </a:xfrm>
          <a:prstGeom prst="ellipse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288950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961120" y="4754880"/>
            <a:ext cx="502920" cy="502920"/>
          </a:xfrm>
          <a:prstGeom prst="ellipse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476402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10972800" y="5715000"/>
            <a:ext cx="502920" cy="502920"/>
          </a:xfrm>
          <a:prstGeom prst="ellipse">
            <a:avLst/>
          </a:prstGeom>
          <a:solidFill>
            <a:srgbClr val="32C4DC"/>
          </a:solidFill>
          <a:ln>
            <a:solidFill>
              <a:srgbClr val="32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572414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914400"/>
            <a:ext cx="1234440" cy="310896"/>
          </a:xfrm>
          <a:prstGeom prst="roundRect">
            <a:avLst/>
          </a:prstGeom>
          <a:solidFill>
            <a:srgbClr val="32C4DC"/>
          </a:solidFill>
          <a:ln>
            <a:solidFill>
              <a:srgbClr val="32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923544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GPS AO VIVO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914400"/>
            <a:ext cx="73152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9112" y="923544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914400"/>
            <a:ext cx="1600200" cy="310896"/>
          </a:xfrm>
          <a:prstGeom prst="roundRect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92354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ROTAS DINÂMICAS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1554480"/>
            <a:ext cx="66751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5F8FC"/>
                </a:solidFill>
                <a:latin typeface="Aptos"/>
              </a:rPr>
              <a:t>BusTrack
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37560"/>
            <a:ext cx="6217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A4B3C6"/>
                </a:solidFill>
                <a:latin typeface="Aptos"/>
              </a:rPr>
              <a:t>Controle inteligente de rotas e horários
de ônibus intermunicipal em tempo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0060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Visibilidade • previsibilidade • confiança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Quando a informação chega tarde, o passageiro paga com tempo.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166360" cy="16459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4650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91639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INFORMAÇÃO DESATUALIZADA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30552"/>
            <a:ext cx="397763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Horários impressos e sites estáticos não acompanham atrasos, trânsito ou falhas mecânicas.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16459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4650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691639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ZERO NOTIFICAÇÃO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30552"/>
            <a:ext cx="397763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O passageiro descobre o atraso no ponto, sem alerta antecipado no celular.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166360" cy="16459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EB5B5B"/>
          </a:solidFill>
          <a:ln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49039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TEMPO PERDIDO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87952"/>
            <a:ext cx="397763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Espera sem previsão gera perda de produtividade, compromissos e confiança.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66160"/>
            <a:ext cx="5166360" cy="16459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3794760"/>
            <a:ext cx="502920" cy="502920"/>
          </a:xfrm>
          <a:prstGeom prst="ellipse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0390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49039"/>
            <a:ext cx="39776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FALTA DE TRANSPARÊNCIA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87952"/>
            <a:ext cx="397763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Empresa e passageiro não têm uma visão compartilhada da operação.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Impacto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A dor pode ser medida — e transformada em indicadores de melhoria.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82880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F9933"/>
                </a:solidFill>
                <a:latin typeface="Aptos"/>
              </a:rPr>
              <a:t>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42316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4B3C6"/>
                </a:solidFill>
                <a:latin typeface="Aptos"/>
              </a:rPr>
              <a:t>já perderam ônibus por falta de informação em tempo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429000" cy="182880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55648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EB5B5B"/>
                </a:solidFill>
                <a:latin typeface="Aptos"/>
              </a:rPr>
              <a:t>41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2316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4B3C6"/>
                </a:solidFill>
                <a:latin typeface="Aptos"/>
              </a:rPr>
              <a:t>de espera média sem previsão de chegada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3429000" cy="182880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755648"/>
            <a:ext cx="2971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32C4DC"/>
                </a:solidFill>
                <a:latin typeface="Aptos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2316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4B3C6"/>
                </a:solidFill>
                <a:latin typeface="Aptos"/>
              </a:rPr>
              <a:t>de insatisfação com apps sem cobertura intermunicipal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Aptos"/>
              </a:rPr>
              <a:t>CONSEQUÊNCIAS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Perda de compromissos e produtividade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Superlotação nos horários de pico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Migração para alternativas de carona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3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7BE7D"/>
                </a:solidFill>
                <a:latin typeface="Aptos"/>
              </a:rPr>
              <a:t>CENÁRIO IDEAL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Passageiro informado antes de sair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Empresa com visão 360° da frota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Menos reclamações e mais fidelização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A solução: BusTrack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Uma plataforma integrada entre frota, empresa e passageiro.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23317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9222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APP DO PASSAGEIRO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880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4B3C6"/>
                </a:solidFill>
                <a:latin typeface="Aptos"/>
              </a:rPr>
              <a:t>Rotas, horários, mapa, localização do veículo e notificações push.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23317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9222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7373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PAINEL DA 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14600"/>
            <a:ext cx="2880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4B3C6"/>
                </a:solidFill>
                <a:latin typeface="Aptos"/>
              </a:rPr>
              <a:t>Frota, velocidade, atrasos acumulados, alertas e indicadores em uma tela.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429000" cy="23317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783080"/>
            <a:ext cx="502920" cy="502920"/>
          </a:xfrm>
          <a:prstGeom prst="ellipse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92224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7373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SINCRONIZAÇÃO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14600"/>
            <a:ext cx="2880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4B3C6"/>
                </a:solidFill>
                <a:latin typeface="Aptos"/>
              </a:rPr>
              <a:t>GPS processado em segundos e distribuído automaticamente aos aplicativos.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4572000"/>
            <a:ext cx="8321040" cy="868680"/>
          </a:xfrm>
          <a:prstGeom prst="roundRect">
            <a:avLst/>
          </a:prstGeom>
          <a:solidFill>
            <a:srgbClr val="0E1D30"/>
          </a:solidFill>
          <a:ln>
            <a:solidFill>
              <a:srgbClr val="0E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471830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7BE7D"/>
                </a:solidFill>
                <a:latin typeface="Aptos"/>
              </a:rPr>
              <a:t>↓ 60% no tempo de espera informado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18304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2C4DC"/>
                </a:solidFill>
                <a:latin typeface="Aptos"/>
              </a:rPr>
              <a:t>↑ 45% na satisfação do passageiro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Uma única plataforma para operação e experiência do passageiro.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188720" cy="310896"/>
          </a:xfrm>
          <a:prstGeom prst="round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PASSAGEIRO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Rastreamento ao vivo com ETA atualizado</a:t>
            </a:r>
          </a:p>
          <a:p>
            <a:pPr>
              <a:spcAft>
                <a:spcPts val="8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Alertas de atrasos, adiantamentos e desvios</a:t>
            </a:r>
          </a:p>
          <a:p>
            <a:pPr>
              <a:spcAft>
                <a:spcPts val="8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Favoritos, histórico e sugestões personalizadas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03520" cy="438912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109728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00784"/>
            <a:ext cx="10058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Painel da frota em tempo real</a:t>
            </a:r>
          </a:p>
          <a:p>
            <a:pPr>
              <a:spcAft>
                <a:spcPts val="8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Relatórios de pontualidade, quilometragem e consumo</a:t>
            </a:r>
          </a:p>
          <a:p>
            <a:pPr>
              <a:spcAft>
                <a:spcPts val="8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Comunicação em massa por linha ou rota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O que nos diferencia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Foco exclusivo no transporte intermunicipal.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886200" cy="594360"/>
          </a:xfrm>
          <a:prstGeom prst="roundRect">
            <a:avLst/>
          </a:prstGeom>
          <a:solidFill>
            <a:srgbClr val="0E1D30"/>
          </a:solidFill>
          <a:ln>
            <a:solidFill>
              <a:srgbClr val="0E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63040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RECURSO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1920240" cy="594360"/>
          </a:xfrm>
          <a:prstGeom prst="roundRect">
            <a:avLst/>
          </a:prstGeom>
          <a:solidFill>
            <a:srgbClr val="0E1D30"/>
          </a:solidFill>
          <a:ln>
            <a:solidFill>
              <a:srgbClr val="0E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463040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GOOGLE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1920240" cy="594360"/>
          </a:xfrm>
          <a:prstGeom prst="roundRect">
            <a:avLst/>
          </a:prstGeom>
          <a:solidFill>
            <a:srgbClr val="0E1D30"/>
          </a:solidFill>
          <a:ln>
            <a:solidFill>
              <a:srgbClr val="0E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463040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MOOVIT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417320"/>
            <a:ext cx="3108960" cy="594360"/>
          </a:xfrm>
          <a:prstGeom prst="round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463040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BUSTRACK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03120"/>
            <a:ext cx="388620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" y="2139696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Ônibus intermunicipal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103120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139696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03120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139696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103120"/>
            <a:ext cx="3108960" cy="566928"/>
          </a:xfrm>
          <a:prstGeom prst="roundRect">
            <a:avLst/>
          </a:prstGeom>
          <a:solidFill>
            <a:srgbClr val="113A42"/>
          </a:solidFill>
          <a:ln>
            <a:solidFill>
              <a:srgbClr val="11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139696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7BE7D"/>
                </a:solidFill>
                <a:latin typeface="Aptos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61487"/>
            <a:ext cx="388620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2798063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Notificações de atraso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761487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798063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761487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798063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4B3C6"/>
                </a:solidFill>
                <a:latin typeface="Aptos"/>
              </a:rPr>
              <a:t>Básico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2761487"/>
            <a:ext cx="3108960" cy="566928"/>
          </a:xfrm>
          <a:prstGeom prst="roundRect">
            <a:avLst/>
          </a:prstGeom>
          <a:solidFill>
            <a:srgbClr val="113A42"/>
          </a:solidFill>
          <a:ln>
            <a:solidFill>
              <a:srgbClr val="11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2798063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7BE7D"/>
                </a:solidFill>
                <a:latin typeface="Aptos"/>
              </a:rPr>
              <a:t>✓ Inteligente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19856"/>
            <a:ext cx="388620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1" y="3456432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Painel para empresa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419856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456432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419856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456432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419856"/>
            <a:ext cx="3108960" cy="566928"/>
          </a:xfrm>
          <a:prstGeom prst="roundRect">
            <a:avLst/>
          </a:prstGeom>
          <a:solidFill>
            <a:srgbClr val="113A42"/>
          </a:solidFill>
          <a:ln>
            <a:solidFill>
              <a:srgbClr val="11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2" y="3456432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7BE7D"/>
                </a:solidFill>
                <a:latin typeface="Aptos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078224"/>
            <a:ext cx="388620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" y="4114800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API para integração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4078224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4114800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4078224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4114800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078224"/>
            <a:ext cx="3108960" cy="566928"/>
          </a:xfrm>
          <a:prstGeom prst="roundRect">
            <a:avLst/>
          </a:prstGeom>
          <a:solidFill>
            <a:srgbClr val="113A42"/>
          </a:solidFill>
          <a:ln>
            <a:solidFill>
              <a:srgbClr val="11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9912" y="4114800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7BE7D"/>
                </a:solidFill>
                <a:latin typeface="Aptos"/>
              </a:rP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736592"/>
            <a:ext cx="388620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1" y="4773168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Modo offline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26280" y="4736592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99432" y="4773168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4736592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4773168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4B3C6"/>
                </a:solidFill>
                <a:latin typeface="Aptos"/>
              </a:rPr>
              <a:t>Parcial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4736592"/>
            <a:ext cx="3108960" cy="566928"/>
          </a:xfrm>
          <a:prstGeom prst="roundRect">
            <a:avLst/>
          </a:prstGeom>
          <a:solidFill>
            <a:srgbClr val="113A42"/>
          </a:solidFill>
          <a:ln>
            <a:solidFill>
              <a:srgbClr val="11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9912" y="4773168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7BE7D"/>
                </a:solidFill>
                <a:latin typeface="Aptos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394959"/>
            <a:ext cx="388620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1" y="5431536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Integração com frota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26280" y="5394959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5431536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5394959"/>
            <a:ext cx="1920240" cy="566928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9672" y="5431536"/>
            <a:ext cx="17739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B5B5B"/>
                </a:solidFill>
                <a:latin typeface="Aptos"/>
              </a:rPr>
              <a:t>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66760" y="5394959"/>
            <a:ext cx="3108960" cy="566928"/>
          </a:xfrm>
          <a:prstGeom prst="roundRect">
            <a:avLst/>
          </a:prstGeom>
          <a:solidFill>
            <a:srgbClr val="113A42"/>
          </a:solidFill>
          <a:ln>
            <a:solidFill>
              <a:srgbClr val="11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9912" y="5431536"/>
            <a:ext cx="2962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7BE7D"/>
                </a:solidFill>
                <a:latin typeface="Aptos"/>
              </a:rPr>
              <a:t>✓ GPS nativo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Tecnologia e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Começar com open source e escalar componentes críticos conforme a demanda.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2011680" cy="310896"/>
          </a:xfrm>
          <a:prstGeom prst="roundRect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OPEN SOURCE / GRATUITAS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OpenStreetMap — mapas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GTFS / GTFS-RT — dados de transporte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Overpass API — consultas geoespaciais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OSRM / Valhalla — roteamento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4B3C6"/>
                </a:solidFill>
                <a:latin typeface="Aptos"/>
              </a:rPr>
              <a:t>Custo menor • mais autonomia • exige infraestrutura própria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91640"/>
            <a:ext cx="1600200" cy="310896"/>
          </a:xfrm>
          <a:prstGeom prst="round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007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PAGAS /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Google Maps Platform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HERE Maps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Mapbox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Firebase / OneSignal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1663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4B3C6"/>
                </a:solidFill>
                <a:latin typeface="Aptos"/>
              </a:rPr>
              <a:t>Menos manutenção • suporte • dados e 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Arquitetura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Fluxo de dados da frota até o celular do passageiro.</a:t>
            </a:r>
          </a:p>
        </p:txBody>
      </p:sp>
      <p:sp>
        <p:nvSpPr>
          <p:cNvPr id="4" name="Oval 3"/>
          <p:cNvSpPr/>
          <p:nvPr/>
        </p:nvSpPr>
        <p:spPr>
          <a:xfrm>
            <a:off x="1161288" y="1828800"/>
            <a:ext cx="502920" cy="502920"/>
          </a:xfrm>
          <a:prstGeom prst="ellipse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183794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635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4B3C6"/>
                </a:solidFill>
                <a:latin typeface="Aptos"/>
              </a:rPr>
              <a:t>Ônibus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9659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4B3C6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493008" y="1828800"/>
            <a:ext cx="502920" cy="502920"/>
          </a:xfrm>
          <a:prstGeom prst="ellipse">
            <a:avLst/>
          </a:prstGeom>
          <a:solidFill>
            <a:srgbClr val="32C4DC"/>
          </a:solidFill>
          <a:ln>
            <a:solidFill>
              <a:srgbClr val="32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83794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4871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81635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4B3C6"/>
                </a:solidFill>
                <a:latin typeface="Aptos"/>
              </a:rPr>
              <a:t>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659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4B3C6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824728" y="1828800"/>
            <a:ext cx="502920" cy="502920"/>
          </a:xfrm>
          <a:prstGeom prst="ellipse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183794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871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PROCESSA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1635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4B3C6"/>
                </a:solidFill>
                <a:latin typeface="Aptos"/>
              </a:rPr>
              <a:t>Servidor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9659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4B3C6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8156447" y="1828800"/>
            <a:ext cx="502920" cy="502920"/>
          </a:xfrm>
          <a:prstGeom prst="ellipse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7" y="183794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4871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81635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4B3C6"/>
                </a:solidFill>
                <a:latin typeface="Aptos"/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19659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4B3C6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488167" y="1828800"/>
            <a:ext cx="502920" cy="502920"/>
          </a:xfrm>
          <a:prstGeom prst="ellipse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88167" y="1837943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48716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81635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4B3C6"/>
                </a:solidFill>
                <a:latin typeface="Aptos"/>
              </a:rPr>
              <a:t>Passageiro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3977639"/>
            <a:ext cx="10058400" cy="132588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22452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9933"/>
                </a:solidFill>
                <a:latin typeface="Aptos"/>
              </a:rPr>
              <a:t>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17720"/>
            <a:ext cx="9326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React Native   |   Node.js / Python   |   PostgreSQL + PostGIS   |   Redis   |   WebSocket   |  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Monetização e público-alvo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Modelo B2B2C com espaço para expansão B2G.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205740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685800" cy="310896"/>
          </a:xfrm>
          <a:prstGeom prst="roundRect">
            <a:avLst/>
          </a:prstGeom>
          <a:solidFill>
            <a:srgbClr val="2074D6"/>
          </a:solidFill>
          <a:ln>
            <a:solidFill>
              <a:srgbClr val="20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078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B2C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Passageiro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App gratuito +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205740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68580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0078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Empresas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004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SaaS mensal por veículo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29000" cy="205740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691640"/>
            <a:ext cx="685800" cy="310896"/>
          </a:xfrm>
          <a:prstGeom prst="roundRect">
            <a:avLst/>
          </a:prstGeom>
          <a:solidFill>
            <a:srgbClr val="37BE7D"/>
          </a:solidFill>
          <a:ln>
            <a:solidFill>
              <a:srgbClr val="37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0078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B2G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Órgãos públicos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7004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Licenciamento e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C4DC"/>
                </a:solidFill>
                <a:latin typeface="Aptos"/>
              </a:rPr>
              <a:t>PÚBLICO PRIORITÁRIO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Empresas intermunicipais com 20+ veículos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Passageiros regulares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Consórcios e sindicatos</a:t>
            </a:r>
          </a:p>
          <a:p>
            <a:pPr>
              <a:spcAft>
                <a:spcPts val="8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Secretarias de mobilidade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Conclusão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4B3C6"/>
                </a:solidFill>
                <a:latin typeface="Aptos"/>
              </a:rPr>
              <a:t>Da validação do MVP à escala regional.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96596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074D6"/>
                </a:solidFill>
                <a:latin typeface="Aptos"/>
              </a:rP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3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880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4B3C6"/>
                </a:solidFill>
                <a:latin typeface="Aptos"/>
              </a:rPr>
              <a:t>MVP para 1 empresa piloto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429000" cy="196596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5564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Aptos"/>
              </a:rPr>
              <a:t>FASE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1284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6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80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4B3C6"/>
                </a:solidFill>
                <a:latin typeface="Aptos"/>
              </a:rPr>
              <a:t>5 empresas + painel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965960"/>
          </a:xfrm>
          <a:prstGeom prst="round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5564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7BE7D"/>
                </a:solidFill>
                <a:latin typeface="Aptos"/>
              </a:rPr>
              <a:t>FASE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1284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12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743200"/>
            <a:ext cx="2880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4B3C6"/>
                </a:solidFill>
                <a:latin typeface="Aptos"/>
              </a:rPr>
              <a:t>API pública + B2G + cobertura regional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0520"/>
            <a:ext cx="9921240" cy="1143000"/>
          </a:xfrm>
          <a:prstGeom prst="roundRect">
            <a:avLst/>
          </a:prstGeom>
          <a:solidFill>
            <a:srgbClr val="0E1D30"/>
          </a:solidFill>
          <a:ln>
            <a:solidFill>
              <a:srgbClr val="0E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9372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“O transporte intermunicipal merece tecnologia de ponta.”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19472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C4DC"/>
                </a:solidFill>
                <a:latin typeface="Aptos"/>
              </a:rPr>
              <a:t>Visibilidade • previsibilidade • confiança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806440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4B3C6"/>
                </a:solidFill>
                <a:latin typeface="Aptos"/>
              </a:rPr>
              <a:t>bustrack.pro   |   contato@bustrack.pro   |   @bustrackpro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A4B3C6"/>
                </a:solidFill>
                <a:latin typeface="Aptos"/>
              </a:rPr>
              <a:t>BUSTRACK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4B3C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